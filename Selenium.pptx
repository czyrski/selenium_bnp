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1D_6D6CA824.xml" ContentType="application/vnd.ms-powerpoint.comments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3"/>
  </p:notesMasterIdLst>
  <p:sldIdLst>
    <p:sldId id="256" r:id="rId2"/>
    <p:sldId id="285" r:id="rId3"/>
    <p:sldId id="257" r:id="rId4"/>
    <p:sldId id="286" r:id="rId5"/>
    <p:sldId id="287" r:id="rId6"/>
    <p:sldId id="293" r:id="rId7"/>
    <p:sldId id="288" r:id="rId8"/>
    <p:sldId id="289" r:id="rId9"/>
    <p:sldId id="290" r:id="rId10"/>
    <p:sldId id="291" r:id="rId11"/>
    <p:sldId id="292" r:id="rId12"/>
    <p:sldId id="294" r:id="rId13"/>
    <p:sldId id="295" r:id="rId14"/>
    <p:sldId id="296" r:id="rId15"/>
    <p:sldId id="297" r:id="rId16"/>
    <p:sldId id="298" r:id="rId17"/>
    <p:sldId id="304" r:id="rId18"/>
    <p:sldId id="305" r:id="rId19"/>
    <p:sldId id="306" r:id="rId20"/>
    <p:sldId id="307" r:id="rId21"/>
    <p:sldId id="299" r:id="rId22"/>
    <p:sldId id="300" r:id="rId23"/>
    <p:sldId id="302" r:id="rId24"/>
    <p:sldId id="301" r:id="rId25"/>
    <p:sldId id="309" r:id="rId26"/>
    <p:sldId id="308" r:id="rId27"/>
    <p:sldId id="312" r:id="rId28"/>
    <p:sldId id="313" r:id="rId29"/>
    <p:sldId id="314" r:id="rId30"/>
    <p:sldId id="315" r:id="rId31"/>
    <p:sldId id="316" r:id="rId32"/>
    <p:sldId id="317" r:id="rId33"/>
    <p:sldId id="320" r:id="rId34"/>
    <p:sldId id="319" r:id="rId35"/>
    <p:sldId id="310" r:id="rId36"/>
    <p:sldId id="303" r:id="rId37"/>
    <p:sldId id="311" r:id="rId38"/>
    <p:sldId id="322" r:id="rId39"/>
    <p:sldId id="321" r:id="rId40"/>
    <p:sldId id="323" r:id="rId41"/>
    <p:sldId id="324" r:id="rId42"/>
  </p:sldIdLst>
  <p:sldSz cx="12192000" cy="6858000"/>
  <p:notesSz cx="6858000" cy="9144000"/>
  <p:embeddedFontLst>
    <p:embeddedFont>
      <p:font typeface="Poppins" panose="00000500000000000000" pitchFamily="2" charset="0"/>
      <p:regular r:id="rId44"/>
      <p:bold r:id="rId45"/>
      <p:italic r:id="rId46"/>
      <p:boldItalic r:id="rId47"/>
    </p:embeddedFont>
    <p:embeddedFont>
      <p:font typeface="Poppins Black" panose="00000A00000000000000" pitchFamily="2" charset="0"/>
      <p:bold r:id="rId48"/>
      <p:italic r:id="rId49"/>
      <p:boldItalic r:id="rId50"/>
    </p:embeddedFont>
    <p:embeddedFont>
      <p:font typeface="Poppins Light" panose="00000400000000000000" pitchFamily="2" charset="0"/>
      <p:regular r:id="rId51"/>
      <p:bold r:id="rId52"/>
      <p:italic r:id="rId53"/>
      <p:boldItalic r:id="rId54"/>
    </p:embeddedFont>
    <p:embeddedFont>
      <p:font typeface="Poppins Medium" panose="00000600000000000000" pitchFamily="2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748D8E2-B61E-48A5-9FCD-58CBC39CB389}">
          <p14:sldIdLst>
            <p14:sldId id="256"/>
            <p14:sldId id="285"/>
            <p14:sldId id="257"/>
            <p14:sldId id="286"/>
            <p14:sldId id="287"/>
            <p14:sldId id="293"/>
            <p14:sldId id="288"/>
            <p14:sldId id="289"/>
            <p14:sldId id="290"/>
            <p14:sldId id="291"/>
            <p14:sldId id="292"/>
            <p14:sldId id="294"/>
            <p14:sldId id="295"/>
            <p14:sldId id="296"/>
            <p14:sldId id="297"/>
            <p14:sldId id="298"/>
            <p14:sldId id="304"/>
            <p14:sldId id="305"/>
            <p14:sldId id="306"/>
            <p14:sldId id="307"/>
            <p14:sldId id="299"/>
            <p14:sldId id="300"/>
            <p14:sldId id="302"/>
            <p14:sldId id="301"/>
            <p14:sldId id="309"/>
            <p14:sldId id="308"/>
            <p14:sldId id="312"/>
            <p14:sldId id="313"/>
            <p14:sldId id="314"/>
            <p14:sldId id="315"/>
            <p14:sldId id="316"/>
            <p14:sldId id="317"/>
            <p14:sldId id="320"/>
            <p14:sldId id="319"/>
            <p14:sldId id="310"/>
            <p14:sldId id="303"/>
            <p14:sldId id="311"/>
            <p14:sldId id="322"/>
            <p14:sldId id="321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E39B8D-B457-FE6D-3C77-89ED0FDBF4FB}" name="Igor Czyrski" initials="IC" userId="S::igor.czyrski@niceproject.eu::df750820-bd22-4daa-8429-73cb204271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CFF40F-6864-4E23-A38A-F3DD8219100D}">
  <a:tblStyle styleId="{9ACFF40F-6864-4E23-A38A-F3DD8219100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modernComment_11D_6D6CA8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C2122E9-9FCF-4454-B8CC-7DDBB8D92DAE}" authorId="{06E39B8D-B457-FE6D-3C77-89ED0FDBF4FB}" created="2025-11-22T17:18:24.108">
    <pc:sldMkLst xmlns:pc="http://schemas.microsoft.com/office/powerpoint/2013/main/command">
      <pc:docMk/>
      <pc:sldMk cId="1835837476" sldId="285"/>
    </pc:sldMkLst>
    <p188:txBody>
      <a:bodyPr/>
      <a:lstStyle/>
      <a:p>
        <a:r>
          <a:rPr lang="en-GB"/>
          <a:t>Podstawy DOM do agendy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96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815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0" y="3567375"/>
            <a:ext cx="12192000" cy="45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0" y="2833950"/>
            <a:ext cx="121920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alibri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endParaRPr dirty="0"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9690" y="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/>
        </p:nvSpPr>
        <p:spPr>
          <a:xfrm>
            <a:off x="0" y="6262979"/>
            <a:ext cx="121920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pl-PL" sz="1400" b="0" i="0" u="none" strike="noStrike" cap="none" dirty="0" err="1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sz="14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4217550" y="6707875"/>
            <a:ext cx="3756900" cy="15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slide">
  <p:cSld name="White slid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-1" y="1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1110175" y="466650"/>
            <a:ext cx="10243500" cy="50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sz="32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240796" y="202373"/>
            <a:ext cx="795017" cy="672375"/>
            <a:chOff x="554063" y="2615373"/>
            <a:chExt cx="795017" cy="672375"/>
          </a:xfrm>
        </p:grpSpPr>
        <p:sp>
          <p:nvSpPr>
            <p:cNvPr id="50" name="Google Shape;50;p6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" name="Google Shape;5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9380" y="577800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>
            <a:spLocks noGrp="1"/>
          </p:cNvSpPr>
          <p:nvPr>
            <p:ph type="body" idx="1"/>
          </p:nvPr>
        </p:nvSpPr>
        <p:spPr>
          <a:xfrm>
            <a:off x="312750" y="1239900"/>
            <a:ext cx="11566500" cy="453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30200"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6pPr>
            <a:lvl7pPr marL="3200400" lvl="6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7pPr>
            <a:lvl8pPr marL="3657600" lvl="7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8pPr>
            <a:lvl9pPr marL="4114800" lvl="8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494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 Medium"/>
              <a:buNone/>
              <a:defRPr sz="440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7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 Light"/>
              <a:buChar char="•"/>
              <a:defRPr sz="2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 Light"/>
              <a:buChar char="•"/>
              <a:defRPr sz="21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36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•"/>
              <a:defRPr sz="17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D_6D6CA82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download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api/assert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lenium.dev/documentation/webdriver/" TargetMode="External"/><Relationship Id="rId2" Type="http://schemas.openxmlformats.org/officeDocument/2006/relationships/hyperlink" Target="http://www.selenium.dev/selenium/docs/api/javascript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ctrTitle"/>
          </p:nvPr>
        </p:nvSpPr>
        <p:spPr>
          <a:xfrm>
            <a:off x="0" y="2833950"/>
            <a:ext cx="121920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Black"/>
              <a:buNone/>
            </a:pPr>
            <a:r>
              <a:rPr lang="pl-PL" sz="4800" dirty="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Selenium</a:t>
            </a:r>
            <a:endParaRPr sz="4800" dirty="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18" name="Google Shape;118;p14"/>
          <p:cNvSpPr txBox="1">
            <a:spLocks noGrp="1"/>
          </p:cNvSpPr>
          <p:nvPr>
            <p:ph type="subTitle" idx="1"/>
          </p:nvPr>
        </p:nvSpPr>
        <p:spPr>
          <a:xfrm>
            <a:off x="0" y="3567375"/>
            <a:ext cx="121920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pl-PL" dirty="0" err="1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</a:t>
            </a:r>
            <a:r>
              <a:rPr lang="pl-PL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pl-PL" dirty="0" err="1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Academy</a:t>
            </a:r>
            <a:endParaRPr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9690" y="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0" y="6262979"/>
            <a:ext cx="12192000" cy="44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pl-PL"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sz="14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>
            <a:spLocks noGrp="1"/>
          </p:cNvSpPr>
          <p:nvPr>
            <p:ph type="title"/>
          </p:nvPr>
        </p:nvSpPr>
        <p:spPr>
          <a:xfrm>
            <a:off x="1110175" y="466650"/>
            <a:ext cx="102435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</a:pPr>
            <a:r>
              <a:rPr lang="pl-PL" dirty="0">
                <a:latin typeface="Poppins Black"/>
                <a:ea typeface="Poppins Black"/>
                <a:cs typeface="Poppins Black"/>
                <a:sym typeface="Poppins Black"/>
              </a:rPr>
              <a:t>Agenda dzisiejszego </a:t>
            </a:r>
            <a:r>
              <a:rPr lang="pl-PL" dirty="0">
                <a:solidFill>
                  <a:srgbClr val="F20B32"/>
                </a:solidFill>
                <a:latin typeface="Poppins Black"/>
                <a:ea typeface="Poppins Black"/>
                <a:cs typeface="Poppins Black"/>
                <a:sym typeface="Poppins Black"/>
              </a:rPr>
              <a:t>dnia</a:t>
            </a:r>
          </a:p>
        </p:txBody>
      </p:sp>
      <p:grpSp>
        <p:nvGrpSpPr>
          <p:cNvPr id="156" name="Google Shape;156;p18"/>
          <p:cNvGrpSpPr/>
          <p:nvPr/>
        </p:nvGrpSpPr>
        <p:grpSpPr>
          <a:xfrm>
            <a:off x="240796" y="202373"/>
            <a:ext cx="795002" cy="672360"/>
            <a:chOff x="554063" y="2615373"/>
            <a:chExt cx="795002" cy="672360"/>
          </a:xfrm>
        </p:grpSpPr>
        <p:sp>
          <p:nvSpPr>
            <p:cNvPr id="157" name="Google Shape;157;p18"/>
            <p:cNvSpPr/>
            <p:nvPr/>
          </p:nvSpPr>
          <p:spPr>
            <a:xfrm>
              <a:off x="845980" y="2784648"/>
              <a:ext cx="503085" cy="503085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8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>
            <a:spLocks noGrp="1"/>
          </p:cNvSpPr>
          <p:nvPr>
            <p:ph type="body" idx="1"/>
          </p:nvPr>
        </p:nvSpPr>
        <p:spPr>
          <a:xfrm>
            <a:off x="651675" y="1853250"/>
            <a:ext cx="9991941" cy="4538100"/>
          </a:xfrm>
          <a:prstGeom prst="rect">
            <a:avLst/>
          </a:prstGeom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pl-PL" dirty="0"/>
              <a:t>Czym jest Selenium?</a:t>
            </a:r>
          </a:p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pl-PL" dirty="0"/>
              <a:t>Co jest potrzebne do pracy z Selenium WebDriver?</a:t>
            </a:r>
          </a:p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pl-PL" dirty="0"/>
              <a:t>Asynchronicznosc </a:t>
            </a:r>
          </a:p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pl-PL" dirty="0"/>
              <a:t>Interakcje ze stroną</a:t>
            </a:r>
          </a:p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pl-PL" dirty="0"/>
              <a:t>Page Object Model</a:t>
            </a:r>
          </a:p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endParaRPr lang="pl-PL" dirty="0"/>
          </a:p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358374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BA36751-33D4-6466-5663-AE28325A3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2C8D43-7320-13EF-0476-AD9D1120CD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Czym jest Selenium?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40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3661-179D-F0BC-7A13-8826B6AF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Czym jest </a:t>
            </a:r>
            <a:r>
              <a:rPr lang="pl-PL" dirty="0">
                <a:solidFill>
                  <a:srgbClr val="FF0000"/>
                </a:solidFill>
              </a:rPr>
              <a:t>Selenium</a:t>
            </a:r>
            <a:r>
              <a:rPr lang="pl-PL" dirty="0"/>
              <a:t>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3EC86-2CC2-7D18-2B0E-6EA5A5E50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577358"/>
            <a:ext cx="11566500" cy="4538100"/>
          </a:xfrm>
        </p:spPr>
        <p:txBody>
          <a:bodyPr/>
          <a:lstStyle/>
          <a:p>
            <a:pPr marL="101600" indent="0">
              <a:buNone/>
            </a:pPr>
            <a:r>
              <a:rPr lang="pl-PL" dirty="0"/>
              <a:t>To nie jest jeden program, ale </a:t>
            </a:r>
            <a:r>
              <a:rPr lang="pl-PL" b="1" dirty="0">
                <a:solidFill>
                  <a:srgbClr val="FF0000"/>
                </a:solidFill>
              </a:rPr>
              <a:t>cały ekosystem narzędzi:</a:t>
            </a:r>
          </a:p>
          <a:p>
            <a:pPr marL="101600" indent="0">
              <a:buNone/>
            </a:pPr>
            <a:endParaRPr lang="pl-PL" b="1" dirty="0">
              <a:solidFill>
                <a:srgbClr val="FF0000"/>
              </a:solidFill>
            </a:endParaRPr>
          </a:p>
          <a:p>
            <a:pPr marL="844550" lvl="1" indent="-285750"/>
            <a:r>
              <a:rPr lang="pl-PL" b="1" dirty="0">
                <a:solidFill>
                  <a:srgbClr val="FF0000"/>
                </a:solidFill>
              </a:rPr>
              <a:t>Selenium Webdriver </a:t>
            </a:r>
            <a:r>
              <a:rPr lang="pl-PL" dirty="0"/>
              <a:t>– wykorzystuje API przeglądarek internetowych. Umożliwia symulowanie obsługi przeglądarki dokładnie w taki sposób, w jaki zrobiłby to człowiek.</a:t>
            </a:r>
          </a:p>
          <a:p>
            <a:pPr marL="844550" lvl="1" indent="-285750"/>
            <a:r>
              <a:rPr lang="pl-PL" b="1" dirty="0">
                <a:solidFill>
                  <a:srgbClr val="FF0000"/>
                </a:solidFill>
              </a:rPr>
              <a:t>Selenium Grid </a:t>
            </a:r>
            <a:r>
              <a:rPr lang="pl-PL" dirty="0"/>
              <a:t>– wykorzystuje przypadki testowe stworzone przy użyciu Selenium Webdriver. Pozwala na ich uruchomienie na różnych platformach sprzętowych.</a:t>
            </a:r>
          </a:p>
          <a:p>
            <a:pPr marL="844550" lvl="1" indent="-285750"/>
            <a:r>
              <a:rPr lang="pl-PL" b="1" dirty="0">
                <a:solidFill>
                  <a:srgbClr val="FF0000"/>
                </a:solidFill>
              </a:rPr>
              <a:t>Selenium IDE </a:t>
            </a:r>
            <a:r>
              <a:rPr lang="pl-PL" dirty="0"/>
              <a:t>– to wtyczka do przeglądarki. Można z jej pomocą nagrać wykonywane działania, a później je odtworzyć.</a:t>
            </a:r>
            <a:endParaRPr lang="pl-PL" dirty="0">
              <a:solidFill>
                <a:srgbClr val="FF0000"/>
              </a:solidFill>
            </a:endParaRPr>
          </a:p>
          <a:p>
            <a:pPr marL="844550" lvl="1" indent="-285750"/>
            <a:endParaRPr lang="pl-PL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dirty="0"/>
              <a:t>Selenium jest narzędziem typu open source. Pierwsze wydanie nastąpiło w 2004 roku. Testy można uruchomić na większości przeglądarek.</a:t>
            </a:r>
          </a:p>
        </p:txBody>
      </p:sp>
    </p:spTree>
    <p:extLst>
      <p:ext uri="{BB962C8B-B14F-4D97-AF65-F5344CB8AC3E}">
        <p14:creationId xmlns:p14="http://schemas.microsoft.com/office/powerpoint/2010/main" val="294549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C7CF-EEFC-61BA-8B6F-2D3B23B28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 jakich językach można pisać testy w </a:t>
            </a:r>
            <a:r>
              <a:rPr lang="pl-PL" dirty="0">
                <a:solidFill>
                  <a:srgbClr val="FF0000"/>
                </a:solidFill>
              </a:rPr>
              <a:t>Selenium</a:t>
            </a:r>
            <a:r>
              <a:rPr lang="pl-PL" dirty="0"/>
              <a:t>?</a:t>
            </a: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57EBE5-62C9-2EEF-B562-1A2A99CC8033}"/>
              </a:ext>
            </a:extLst>
          </p:cNvPr>
          <p:cNvSpPr/>
          <p:nvPr/>
        </p:nvSpPr>
        <p:spPr>
          <a:xfrm>
            <a:off x="1502228" y="1687286"/>
            <a:ext cx="2601686" cy="1121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/>
              <a:t>JAVASCRIPT</a:t>
            </a:r>
          </a:p>
          <a:p>
            <a:pPr algn="ctr"/>
            <a:r>
              <a:rPr lang="pl-PL" sz="2400" b="1" dirty="0"/>
              <a:t>NODE.JS</a:t>
            </a:r>
            <a:endParaRPr lang="en-GB" sz="2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2C12CE-2FCC-25F1-BD13-E7E886D19ACF}"/>
              </a:ext>
            </a:extLst>
          </p:cNvPr>
          <p:cNvSpPr/>
          <p:nvPr/>
        </p:nvSpPr>
        <p:spPr>
          <a:xfrm>
            <a:off x="4795157" y="1687286"/>
            <a:ext cx="2601686" cy="1121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/>
              <a:t>C#</a:t>
            </a:r>
            <a:endParaRPr lang="en-GB" sz="24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D6091A-C4FB-CCB8-EE2B-62E5B1ACCFC7}"/>
              </a:ext>
            </a:extLst>
          </p:cNvPr>
          <p:cNvSpPr/>
          <p:nvPr/>
        </p:nvSpPr>
        <p:spPr>
          <a:xfrm>
            <a:off x="8088086" y="1687286"/>
            <a:ext cx="2601686" cy="1121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/>
              <a:t>GROOVY</a:t>
            </a:r>
            <a:endParaRPr lang="en-GB" sz="24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85C725-969A-A9D4-2B6B-4A361CF2AB45}"/>
              </a:ext>
            </a:extLst>
          </p:cNvPr>
          <p:cNvSpPr/>
          <p:nvPr/>
        </p:nvSpPr>
        <p:spPr>
          <a:xfrm>
            <a:off x="1502228" y="3265714"/>
            <a:ext cx="2601686" cy="1121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bg1"/>
                </a:solidFill>
              </a:rPr>
              <a:t>JAVA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C4BC45-59C3-4022-F74C-1FEFFF33A5CA}"/>
              </a:ext>
            </a:extLst>
          </p:cNvPr>
          <p:cNvSpPr/>
          <p:nvPr/>
        </p:nvSpPr>
        <p:spPr>
          <a:xfrm>
            <a:off x="4795157" y="3265714"/>
            <a:ext cx="2601686" cy="1121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/>
              <a:t>PERL</a:t>
            </a:r>
            <a:endParaRPr lang="en-GB" sz="24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F9E14B-D8B5-D1B3-E7B9-F2137085D95C}"/>
              </a:ext>
            </a:extLst>
          </p:cNvPr>
          <p:cNvSpPr/>
          <p:nvPr/>
        </p:nvSpPr>
        <p:spPr>
          <a:xfrm>
            <a:off x="8088086" y="3265714"/>
            <a:ext cx="2601686" cy="1121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/>
              <a:t>PHP</a:t>
            </a:r>
            <a:endParaRPr lang="en-GB" sz="24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086045-E008-9188-5E21-BF51C7CFD761}"/>
              </a:ext>
            </a:extLst>
          </p:cNvPr>
          <p:cNvSpPr/>
          <p:nvPr/>
        </p:nvSpPr>
        <p:spPr>
          <a:xfrm>
            <a:off x="1502228" y="4844142"/>
            <a:ext cx="2601686" cy="1121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bg1"/>
                </a:solidFill>
              </a:rPr>
              <a:t>PYTHON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ABE357A-9B54-0549-60A0-946DF821A8A2}"/>
              </a:ext>
            </a:extLst>
          </p:cNvPr>
          <p:cNvSpPr/>
          <p:nvPr/>
        </p:nvSpPr>
        <p:spPr>
          <a:xfrm>
            <a:off x="4795157" y="4844142"/>
            <a:ext cx="2601686" cy="1121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bg1"/>
                </a:solidFill>
              </a:rPr>
              <a:t>RUBY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4CB1AC-6AB4-8AC7-5AAF-447F9F26AB8C}"/>
              </a:ext>
            </a:extLst>
          </p:cNvPr>
          <p:cNvSpPr/>
          <p:nvPr/>
        </p:nvSpPr>
        <p:spPr>
          <a:xfrm>
            <a:off x="8088086" y="4844142"/>
            <a:ext cx="2601686" cy="1121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bg1"/>
                </a:solidFill>
              </a:rPr>
              <a:t>SCALA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85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83E4-41A2-B7F3-5B41-3E384314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Dlaczego </a:t>
            </a:r>
            <a:r>
              <a:rPr lang="pl-PL" dirty="0">
                <a:solidFill>
                  <a:srgbClr val="FF0000"/>
                </a:solidFill>
              </a:rPr>
              <a:t>JavaScript</a:t>
            </a:r>
            <a:r>
              <a:rPr lang="pl-PL" dirty="0"/>
              <a:t>/</a:t>
            </a:r>
            <a:r>
              <a:rPr lang="pl-PL" dirty="0">
                <a:solidFill>
                  <a:srgbClr val="FF0000"/>
                </a:solidFill>
              </a:rPr>
              <a:t>TypeScript</a:t>
            </a:r>
            <a:r>
              <a:rPr lang="pl-PL" dirty="0"/>
              <a:t> to dobry wybór?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F00AA-1B0B-3EDE-56D6-3B7AD4C09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2209164"/>
            <a:ext cx="11566500" cy="4538100"/>
          </a:xfrm>
        </p:spPr>
        <p:txBody>
          <a:bodyPr/>
          <a:lstStyle/>
          <a:p>
            <a:pPr marL="101600" indent="0">
              <a:buNone/>
            </a:pPr>
            <a:r>
              <a:rPr lang="pl-PL" dirty="0"/>
              <a:t>Jeden język do wszystkiego – testerzy mogą pisać testy w tym samym języku, w którym programiści piszą frontend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Asynchroniczność – JS/TS naturalnie radzi sobie z oczekiwaniem na elementy, co w testach webowych jest kluczowe (strony ładują się z różną prędkością)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Ekosystem npm – dostęp do tysięcy gotowych bibliotek wspomagających testy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3012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E0FD-D17B-6FF1-01BA-48A016EBC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Wróćmy na chwilę do </a:t>
            </a:r>
            <a:r>
              <a:rPr lang="pl-PL" dirty="0">
                <a:solidFill>
                  <a:srgbClr val="FF0000"/>
                </a:solidFill>
              </a:rPr>
              <a:t>Cypress</a:t>
            </a:r>
            <a:r>
              <a:rPr lang="pl-PL" dirty="0"/>
              <a:t>...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CB6BC-B330-6109-A6C2-4613863F0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054843"/>
            <a:ext cx="11566500" cy="5151450"/>
          </a:xfrm>
        </p:spPr>
        <p:txBody>
          <a:bodyPr>
            <a:normAutofit/>
          </a:bodyPr>
          <a:lstStyle/>
          <a:p>
            <a:pPr marL="101600" indent="0">
              <a:buNone/>
            </a:pPr>
            <a:endParaRPr lang="pl-PL" b="1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b="1" dirty="0">
                <a:solidFill>
                  <a:srgbClr val="FF0000"/>
                </a:solidFill>
              </a:rPr>
              <a:t>Praca ‚wewnątrz’ przeglądarki</a:t>
            </a:r>
          </a:p>
          <a:p>
            <a:pPr marL="558800" lvl="1" indent="0">
              <a:buNone/>
            </a:pPr>
            <a:r>
              <a:rPr lang="pl-PL" dirty="0">
                <a:solidFill>
                  <a:schemeClr val="tx1"/>
                </a:solidFill>
              </a:rPr>
              <a:t>Cypress działa wewnątrz. </a:t>
            </a:r>
            <a:r>
              <a:rPr lang="pl-PL" dirty="0"/>
              <a:t>Kiedy uruchamiasz test, Cypress "wstrzykuje" swój kod bezpośrednio do tej samej karty przeglądarki, w której otwarta jest Twoja strona</a:t>
            </a:r>
          </a:p>
          <a:p>
            <a:pPr marL="558800" lvl="1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b="1" dirty="0">
                <a:solidFill>
                  <a:srgbClr val="FF0000"/>
                </a:solidFill>
              </a:rPr>
              <a:t>Brak pośredników</a:t>
            </a:r>
          </a:p>
          <a:p>
            <a:pPr marL="558800" lvl="1" indent="0">
              <a:buNone/>
            </a:pPr>
            <a:r>
              <a:rPr lang="pl-PL" dirty="0"/>
              <a:t>Cypress nie potrzebuje sterownika do komunikacji z przeglądarką. Cypress ma bezpośredni dostęp do każdego elementu, okna window, a nawet pamięci aplikacji.</a:t>
            </a:r>
          </a:p>
          <a:p>
            <a:pPr marL="558800" lvl="1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en-GB" b="1" dirty="0" err="1">
                <a:solidFill>
                  <a:srgbClr val="FF0000"/>
                </a:solidFill>
              </a:rPr>
              <a:t>Kontrola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 err="1">
                <a:solidFill>
                  <a:srgbClr val="FF0000"/>
                </a:solidFill>
              </a:rPr>
              <a:t>nad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 err="1">
                <a:solidFill>
                  <a:srgbClr val="FF0000"/>
                </a:solidFill>
              </a:rPr>
              <a:t>siecią</a:t>
            </a:r>
            <a:endParaRPr lang="pl-PL" b="1" dirty="0">
              <a:solidFill>
                <a:srgbClr val="FF0000"/>
              </a:solidFill>
            </a:endParaRPr>
          </a:p>
          <a:p>
            <a:pPr marL="558800" lvl="1" indent="0">
              <a:buNone/>
            </a:pPr>
            <a:r>
              <a:rPr lang="pl-PL" dirty="0"/>
              <a:t>Cypress działa jak serwer proxy. Widzi każde zapytanie HTTP, które wychodzi ze sklepu do bazy danych. Może je zatrzymać, zmienić albo udawać, że serwer zwrócił błąd (tzw. mocking).</a:t>
            </a:r>
            <a:endParaRPr lang="pl-PL" b="1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en-GB" b="1" dirty="0">
                <a:solidFill>
                  <a:srgbClr val="FF0000"/>
                </a:solidFill>
              </a:rPr>
              <a:t>Single Tab</a:t>
            </a:r>
            <a:endParaRPr lang="pl-PL" b="1" dirty="0">
              <a:solidFill>
                <a:srgbClr val="FF0000"/>
              </a:solidFill>
            </a:endParaRPr>
          </a:p>
          <a:p>
            <a:pPr marL="558800" lvl="1" indent="0">
              <a:buNone/>
            </a:pPr>
            <a:r>
              <a:rPr lang="pl-PL" dirty="0"/>
              <a:t>Z racji tej architektury Cypress ma jedną wielką wadę: nie potrafi obsługiwać wielu okien lub kart przeglądarki naraz</a:t>
            </a:r>
            <a:r>
              <a:rPr lang="pl-PL" b="1" dirty="0"/>
              <a:t>.</a:t>
            </a:r>
            <a:r>
              <a:rPr lang="pl-PL" dirty="0"/>
              <a:t> </a:t>
            </a:r>
            <a:endParaRPr lang="pl-P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77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C1303-434A-785D-CA63-0C0CCDEA6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Architektura </a:t>
            </a:r>
            <a:r>
              <a:rPr lang="pl-PL" dirty="0">
                <a:solidFill>
                  <a:srgbClr val="FF0000"/>
                </a:solidFill>
              </a:rPr>
              <a:t>Selenium </a:t>
            </a:r>
            <a:r>
              <a:rPr lang="pl-PL" dirty="0">
                <a:solidFill>
                  <a:schemeClr val="tx1"/>
                </a:solidFill>
              </a:rPr>
              <a:t>– jak to działa?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820C5-EEA1-7109-B296-E0C1DDAED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>
              <a:solidFill>
                <a:schemeClr val="bg2"/>
              </a:solidFill>
            </a:endParaRPr>
          </a:p>
          <a:p>
            <a:pPr marL="101600" indent="0">
              <a:buNone/>
            </a:pPr>
            <a:endParaRPr lang="pl-PL" dirty="0">
              <a:solidFill>
                <a:schemeClr val="bg2"/>
              </a:solidFill>
            </a:endParaRPr>
          </a:p>
          <a:p>
            <a:pPr marL="101600" indent="0">
              <a:buNone/>
            </a:pPr>
            <a:endParaRPr lang="pl-PL" dirty="0">
              <a:solidFill>
                <a:schemeClr val="bg2"/>
              </a:solidFill>
            </a:endParaRPr>
          </a:p>
          <a:p>
            <a:pPr marL="101600" indent="0">
              <a:buNone/>
            </a:pPr>
            <a:r>
              <a:rPr lang="pl-PL" b="1" dirty="0">
                <a:solidFill>
                  <a:schemeClr val="bg2"/>
                </a:solidFill>
              </a:rPr>
              <a:t>Architektura selenium opiera się na 3 podstawowych filarach:</a:t>
            </a:r>
          </a:p>
          <a:p>
            <a:pPr marL="558800" indent="-457200">
              <a:buFont typeface="+mj-lt"/>
              <a:buAutoNum type="arabicPeriod"/>
            </a:pPr>
            <a:endParaRPr lang="pl-PL" dirty="0">
              <a:solidFill>
                <a:schemeClr val="bg2"/>
              </a:solidFill>
            </a:endParaRPr>
          </a:p>
          <a:p>
            <a:pPr marL="1016000" lvl="1" indent="-457200">
              <a:buFont typeface="+mj-lt"/>
              <a:buAutoNum type="arabicPeriod"/>
            </a:pPr>
            <a:r>
              <a:rPr lang="pl-PL" sz="1800" dirty="0">
                <a:solidFill>
                  <a:schemeClr val="bg2"/>
                </a:solidFill>
              </a:rPr>
              <a:t>Skrypt testowy (Klient)</a:t>
            </a:r>
          </a:p>
          <a:p>
            <a:pPr marL="1016000" lvl="1" indent="-457200">
              <a:buFont typeface="+mj-lt"/>
              <a:buAutoNum type="arabicPeriod"/>
            </a:pPr>
            <a:r>
              <a:rPr lang="pl-PL" sz="1800" dirty="0">
                <a:solidFill>
                  <a:schemeClr val="bg2"/>
                </a:solidFill>
              </a:rPr>
              <a:t>Protokół komunikacyjny (W3C WebDriver Protocol)</a:t>
            </a:r>
          </a:p>
          <a:p>
            <a:pPr marL="1016000" lvl="1" indent="-457200">
              <a:buFont typeface="+mj-lt"/>
              <a:buAutoNum type="arabicPeriod"/>
            </a:pPr>
            <a:r>
              <a:rPr lang="pl-PL" sz="1800" dirty="0">
                <a:solidFill>
                  <a:schemeClr val="bg2"/>
                </a:solidFill>
              </a:rPr>
              <a:t>Browser driver (Serwer)</a:t>
            </a:r>
          </a:p>
          <a:p>
            <a:pPr marL="101600" indent="0">
              <a:buNone/>
            </a:pP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74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1AC9-19B1-CDE1-FA27-AE5695188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Architektura </a:t>
            </a:r>
            <a:r>
              <a:rPr lang="pl-PL" dirty="0">
                <a:solidFill>
                  <a:srgbClr val="FF0000"/>
                </a:solidFill>
              </a:rPr>
              <a:t>Selenium </a:t>
            </a:r>
            <a:r>
              <a:rPr lang="pl-PL" dirty="0">
                <a:solidFill>
                  <a:schemeClr val="tx1"/>
                </a:solidFill>
              </a:rPr>
              <a:t>– jak to działa?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181D6-3721-7760-7A01-97187C3D5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b="1" dirty="0"/>
          </a:p>
          <a:p>
            <a:pPr marL="101600" indent="0">
              <a:buNone/>
            </a:pPr>
            <a:r>
              <a:rPr lang="pl-PL" b="1" dirty="0"/>
              <a:t>Skrypt testowy</a:t>
            </a:r>
          </a:p>
          <a:p>
            <a:pPr marL="558800" lvl="1" indent="0">
              <a:buNone/>
            </a:pPr>
            <a:r>
              <a:rPr lang="pl-PL" dirty="0"/>
              <a:t>To tutaj piszesz swój kod w JavaScript. Twoim „narzędziem” jest biblioteka </a:t>
            </a:r>
            <a:r>
              <a:rPr lang="pl-PL" b="1" dirty="0">
                <a:solidFill>
                  <a:schemeClr val="accent1"/>
                </a:solidFill>
              </a:rPr>
              <a:t>selenium-webdriver</a:t>
            </a:r>
            <a:r>
              <a:rPr lang="pl-PL" dirty="0"/>
              <a:t>. Kiedy uruchamiasz skrypt, biblioteka ta nie szuka przeglądarki na dysku – ona przygotowuje instrukcje (komendy), które mają zostać wykonane.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b="1" dirty="0"/>
              <a:t>Protokół komunikacyjny 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chemeClr val="accent1"/>
                </a:solidFill>
              </a:rPr>
              <a:t>W3C WebDriver Protocol </a:t>
            </a:r>
            <a:r>
              <a:rPr lang="pl-PL" dirty="0">
                <a:solidFill>
                  <a:schemeClr val="tx1"/>
                </a:solidFill>
              </a:rPr>
              <a:t>jest</a:t>
            </a:r>
            <a:r>
              <a:rPr lang="pl-PL" dirty="0">
                <a:solidFill>
                  <a:schemeClr val="accent1"/>
                </a:solidFill>
              </a:rPr>
              <a:t> </a:t>
            </a:r>
            <a:r>
              <a:rPr lang="pl-PL" dirty="0">
                <a:solidFill>
                  <a:schemeClr val="tx1"/>
                </a:solidFill>
              </a:rPr>
              <a:t>to „język rozmowy”. Biblioteka JS zamienia Twoje polecenia (np. metodę </a:t>
            </a:r>
            <a:r>
              <a:rPr lang="pl-PL" dirty="0">
                <a:solidFill>
                  <a:srgbClr val="FF0000"/>
                </a:solidFill>
              </a:rPr>
              <a:t>click()</a:t>
            </a:r>
            <a:r>
              <a:rPr lang="pl-PL" dirty="0">
                <a:solidFill>
                  <a:schemeClr val="tx1"/>
                </a:solidFill>
              </a:rPr>
              <a:t>) na paczki danych w formacie JSON i wysyła je protokołem HTTP do drivera. Każda akcja, to osobne zapytanie. </a:t>
            </a:r>
            <a:endParaRPr lang="en-GB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72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11FD-D172-FAEC-00A3-6328FF6D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Architektura </a:t>
            </a:r>
            <a:r>
              <a:rPr lang="pl-PL" dirty="0">
                <a:solidFill>
                  <a:srgbClr val="FF0000"/>
                </a:solidFill>
              </a:rPr>
              <a:t>Selenium </a:t>
            </a:r>
            <a:r>
              <a:rPr lang="pl-PL" dirty="0">
                <a:solidFill>
                  <a:schemeClr val="tx1"/>
                </a:solidFill>
              </a:rPr>
              <a:t>– jak to działa?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2DB4F-B6B0-4240-5691-1AEC179A4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943988"/>
            <a:ext cx="11566500" cy="4538100"/>
          </a:xfrm>
        </p:spPr>
        <p:txBody>
          <a:bodyPr/>
          <a:lstStyle/>
          <a:p>
            <a:pPr marL="101600" indent="0">
              <a:buNone/>
            </a:pPr>
            <a:endParaRPr lang="pl-PL" b="1" dirty="0"/>
          </a:p>
          <a:p>
            <a:pPr marL="101600" indent="0">
              <a:buNone/>
            </a:pPr>
            <a:r>
              <a:rPr lang="pl-PL" b="1" dirty="0"/>
              <a:t>Browser driver</a:t>
            </a:r>
          </a:p>
          <a:p>
            <a:pPr marL="558800" lvl="1" indent="0">
              <a:buNone/>
            </a:pPr>
            <a:r>
              <a:rPr lang="pl-PL" dirty="0"/>
              <a:t>Jest kluczowym elementem. </a:t>
            </a:r>
            <a:r>
              <a:rPr lang="pl-PL" b="1" dirty="0">
                <a:solidFill>
                  <a:srgbClr val="FF0000"/>
                </a:solidFill>
              </a:rPr>
              <a:t>chromedriver.exe</a:t>
            </a:r>
            <a:r>
              <a:rPr lang="pl-PL" dirty="0"/>
              <a:t> (dla Chrome) czy </a:t>
            </a:r>
            <a:r>
              <a:rPr lang="pl-PL" b="1" dirty="0">
                <a:solidFill>
                  <a:srgbClr val="FF0000"/>
                </a:solidFill>
              </a:rPr>
              <a:t>geckodriver.exe</a:t>
            </a:r>
            <a:r>
              <a:rPr lang="pl-PL" b="1" dirty="0">
                <a:solidFill>
                  <a:schemeClr val="bg2"/>
                </a:solidFill>
              </a:rPr>
              <a:t> </a:t>
            </a:r>
            <a:r>
              <a:rPr lang="pl-PL" dirty="0">
                <a:solidFill>
                  <a:schemeClr val="bg2"/>
                </a:solidFill>
              </a:rPr>
              <a:t>(dla Firefox) to małe serwery HTTP działające w tle.</a:t>
            </a:r>
          </a:p>
          <a:p>
            <a:pPr marL="844550" lvl="1" indent="-285750"/>
            <a:r>
              <a:rPr lang="pl-PL" b="1" dirty="0">
                <a:solidFill>
                  <a:schemeClr val="bg2"/>
                </a:solidFill>
              </a:rPr>
              <a:t>Odbierają</a:t>
            </a:r>
            <a:r>
              <a:rPr lang="pl-PL" dirty="0">
                <a:solidFill>
                  <a:schemeClr val="bg2"/>
                </a:solidFill>
              </a:rPr>
              <a:t> zapytanie JSON od Twojego skryptu</a:t>
            </a:r>
          </a:p>
          <a:p>
            <a:pPr marL="844550" lvl="1" indent="-285750"/>
            <a:r>
              <a:rPr lang="pl-PL" b="1" dirty="0">
                <a:solidFill>
                  <a:schemeClr val="bg2"/>
                </a:solidFill>
              </a:rPr>
              <a:t>Tłumaczą</a:t>
            </a:r>
            <a:r>
              <a:rPr lang="pl-PL" dirty="0">
                <a:solidFill>
                  <a:schemeClr val="bg2"/>
                </a:solidFill>
              </a:rPr>
              <a:t> je na komendy zrozumiałe dla konkretnej przeglądarki (używając wewnętrznych mechanizmów przeglądarki)</a:t>
            </a:r>
          </a:p>
          <a:p>
            <a:pPr marL="844550" lvl="1" indent="-285750"/>
            <a:r>
              <a:rPr lang="pl-PL" b="1" dirty="0">
                <a:solidFill>
                  <a:schemeClr val="bg2"/>
                </a:solidFill>
              </a:rPr>
              <a:t>Wykonują</a:t>
            </a:r>
            <a:r>
              <a:rPr lang="pl-PL" dirty="0">
                <a:solidFill>
                  <a:schemeClr val="bg2"/>
                </a:solidFill>
              </a:rPr>
              <a:t> akcje fizycznie w oknie przeglądarki</a:t>
            </a:r>
          </a:p>
          <a:p>
            <a:pPr marL="844550" lvl="1" indent="-285750"/>
            <a:r>
              <a:rPr lang="pl-PL" b="1" dirty="0">
                <a:solidFill>
                  <a:schemeClr val="bg2"/>
                </a:solidFill>
              </a:rPr>
              <a:t>Zwracają</a:t>
            </a:r>
            <a:r>
              <a:rPr lang="pl-PL" dirty="0">
                <a:solidFill>
                  <a:schemeClr val="bg2"/>
                </a:solidFill>
              </a:rPr>
              <a:t> odpowiedź do Twojego skryptu (pass lub fail)</a:t>
            </a:r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287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0B70F-1867-107C-071C-CF3A4C1E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Porównanie </a:t>
            </a:r>
            <a:r>
              <a:rPr lang="pl-PL" dirty="0">
                <a:solidFill>
                  <a:srgbClr val="FF0000"/>
                </a:solidFill>
              </a:rPr>
              <a:t>Cypress</a:t>
            </a:r>
            <a:r>
              <a:rPr lang="pl-PL" dirty="0"/>
              <a:t> i </a:t>
            </a:r>
            <a:r>
              <a:rPr lang="pl-PL" dirty="0">
                <a:solidFill>
                  <a:srgbClr val="FF0000"/>
                </a:solidFill>
              </a:rPr>
              <a:t>Selenium</a:t>
            </a:r>
            <a:endParaRPr lang="en-GB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065A85-215C-0B15-0B4D-1016A015A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02049"/>
              </p:ext>
            </p:extLst>
          </p:nvPr>
        </p:nvGraphicFramePr>
        <p:xfrm>
          <a:off x="627763" y="1191038"/>
          <a:ext cx="10515600" cy="4886520"/>
        </p:xfrm>
        <a:graphic>
          <a:graphicData uri="http://schemas.openxmlformats.org/drawingml/2006/table">
            <a:tbl>
              <a:tblPr/>
              <a:tblGrid>
                <a:gridCol w="2362325">
                  <a:extLst>
                    <a:ext uri="{9D8B030D-6E8A-4147-A177-3AD203B41FA5}">
                      <a16:colId xmlns:a16="http://schemas.microsoft.com/office/drawing/2014/main" val="1401991645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3065973582"/>
                    </a:ext>
                  </a:extLst>
                </a:gridCol>
                <a:gridCol w="3947035">
                  <a:extLst>
                    <a:ext uri="{9D8B030D-6E8A-4147-A177-3AD203B41FA5}">
                      <a16:colId xmlns:a16="http://schemas.microsoft.com/office/drawing/2014/main" val="32190931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Cecha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Selenium WebDriver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Cypress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7272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Architektura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Zewnętrzna (kod steruje przeglądarką „z zewnątrz”).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Wewnętrzna (kod działa wewnątrz przeglądarki).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37230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Obsługiwane</a:t>
                      </a: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języki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JS, Python, Java, C#, Ruby, PHP.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Tylko JavaScript i TypeScript.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9411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Szybkość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Wolniejszy (narzut komunikacji przez protokół HTTP).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Bardzo szybki (bezpośredni dostęp do DOM).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3858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Obsługa</a:t>
                      </a: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przeglądarek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Wszystkie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(Chrome, Firefox, Safari, Edge, IE).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Chrome, Edge, Firefox (</a:t>
                      </a:r>
                      <a:r>
                        <a:rPr lang="en-GB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brak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Safari/WebKit).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61371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Wiele kart/</a:t>
                      </a: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okien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Tak</a:t>
                      </a: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– bez problemu przełącza się między oknami.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Nie – ograniczony do jednej karty/domeny.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48435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Instalacja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Oprócz biblioteki wymaga drivera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Bardzo prosta (jeden pakiet </a:t>
                      </a:r>
                      <a:r>
                        <a:rPr lang="pl-PL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npm install cypress</a:t>
                      </a: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85781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Czekanie</a:t>
                      </a: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</a:t>
                      </a: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elementy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Trzeba definiować ręcznie (Implicit/Explicit Wait).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Automatyczne (sam czeka, aż element będzie gotowy).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0432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Stabilność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Wyższa podatność na błędy synchronizacji.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Bardzo wysoka stabilność dzięki architekturze.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94367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Mocking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</a:t>
                      </a:r>
                      <a:r>
                        <a:rPr lang="en-GB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ymaga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dodatkowych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bibliotek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Wbudowane (łatwe udawanie odpowiedzi z serwera).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423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995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B3B5E2-4FE7-5DE3-C9B3-46C5803CE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81422"/>
            <a:ext cx="12192000" cy="828600"/>
          </a:xfrm>
        </p:spPr>
        <p:txBody>
          <a:bodyPr/>
          <a:lstStyle/>
          <a:p>
            <a:r>
              <a:rPr lang="pl-PL" sz="4000" dirty="0"/>
              <a:t>Co jest potrzebne do pracy z Selenium WebDriver?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177311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23B429-E610-DBF8-8AB6-C619DD885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Środowisko uruchomieniowe – </a:t>
            </a:r>
            <a:r>
              <a:rPr lang="pl-PL" dirty="0">
                <a:solidFill>
                  <a:srgbClr val="FF0000"/>
                </a:solidFill>
              </a:rPr>
              <a:t>Node.JS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C1437-80BA-3894-A8F3-C168C9584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Jest to środowisko uruchomieniowe JavaScript po stronie serwera, które pozwala wykonywać kod JS (i TS) poza przeglądarką. 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Wszystkie nowoczesne frameworki testowe (np. Playwright, Cypress, Jest) działają w oparciu o Node.JS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Instalacja Node.JS automatycznie instaluje menadżera pakietów </a:t>
            </a:r>
            <a:r>
              <a:rPr lang="pl-PL" dirty="0">
                <a:solidFill>
                  <a:srgbClr val="FF0000"/>
                </a:solidFill>
              </a:rPr>
              <a:t>npm (Node Package Manager)</a:t>
            </a:r>
          </a:p>
          <a:p>
            <a:pPr marL="101600" indent="0">
              <a:buNone/>
            </a:pPr>
            <a:endParaRPr lang="pl-PL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dirty="0">
                <a:solidFill>
                  <a:schemeClr val="tx1"/>
                </a:solidFill>
              </a:rPr>
              <a:t>Link do instalacji oraz instrukcji:</a:t>
            </a:r>
          </a:p>
          <a:p>
            <a:pPr marL="101600" indent="0">
              <a:buNone/>
            </a:pPr>
            <a:r>
              <a:rPr lang="en-GB" u="sng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https://nodejs.org/en/download</a:t>
            </a:r>
            <a:endParaRPr lang="en-GB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038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EE62E-867D-7D35-15F5-B7EDFD476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Menadżer pakietów – </a:t>
            </a:r>
            <a:r>
              <a:rPr lang="pl-PL" dirty="0">
                <a:solidFill>
                  <a:srgbClr val="FF0000"/>
                </a:solidFill>
              </a:rPr>
              <a:t>npm</a:t>
            </a:r>
            <a:r>
              <a:rPr lang="pl-PL" dirty="0"/>
              <a:t>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6760E-C8A1-0D22-C8FD-E20BF66B3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608389"/>
            <a:ext cx="11566500" cy="4538100"/>
          </a:xfrm>
        </p:spPr>
        <p:txBody>
          <a:bodyPr/>
          <a:lstStyle/>
          <a:p>
            <a:pPr marL="101600" indent="0">
              <a:buNone/>
            </a:pPr>
            <a:r>
              <a:rPr lang="pl-PL" dirty="0"/>
              <a:t>Do zarządzania zależnościami (czyli frameworkami testowymi, bibliotekami, kompilatorem TS) używamy menedżera pakietów. Najczęściej jest to </a:t>
            </a:r>
            <a:r>
              <a:rPr lang="pl-PL" b="1" dirty="0">
                <a:solidFill>
                  <a:srgbClr val="FF0000"/>
                </a:solidFill>
              </a:rPr>
              <a:t>npm</a:t>
            </a:r>
            <a:r>
              <a:rPr lang="pl-PL" dirty="0"/>
              <a:t>, który jest domyślnie instalowany z Node.js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Służy do instalowania, aktualizowania i usuwania pakietów (bibliotek) potrzebnych w projekcie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2857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8ECF-0492-F32A-B344-1EC57360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Biblioteka </a:t>
            </a:r>
            <a:r>
              <a:rPr lang="pl-PL" dirty="0">
                <a:solidFill>
                  <a:srgbClr val="FF0000"/>
                </a:solidFill>
              </a:rPr>
              <a:t>selenium-webdriver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3C862-E276-85ED-9145-B57DFF5B7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Jest to paczka z kodem, którą dołącza się do projektu. Zawiera ona wszystkie potrzebne funkcje (jak findElement(), click(), getText()...)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Instaluje się ją komendą: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398E2-7B57-AB71-1A55-2A44C5794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660" y="3985802"/>
            <a:ext cx="6430679" cy="107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970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EE82-BBF0-BED9-099E-C390D7F1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Przeglądarka i jej sterownik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8E1BF-B9F6-829E-9C8A-7C42BDE86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2053716"/>
            <a:ext cx="11566500" cy="4538100"/>
          </a:xfrm>
        </p:spPr>
        <p:txBody>
          <a:bodyPr/>
          <a:lstStyle/>
          <a:p>
            <a:pPr marL="101600" indent="0">
              <a:buNone/>
            </a:pPr>
            <a:r>
              <a:rPr lang="pl-PL" dirty="0"/>
              <a:t>Jeśli chcesz testować na Chrome, musisz mieć zainstalowany </a:t>
            </a:r>
            <a:r>
              <a:rPr lang="pl-PL" dirty="0">
                <a:solidFill>
                  <a:srgbClr val="FF0000"/>
                </a:solidFill>
              </a:rPr>
              <a:t>Chrome</a:t>
            </a:r>
            <a:r>
              <a:rPr lang="pl-PL" dirty="0"/>
              <a:t> </a:t>
            </a:r>
            <a:r>
              <a:rPr lang="pl-PL" dirty="0">
                <a:solidFill>
                  <a:schemeClr val="bg2"/>
                </a:solidFill>
              </a:rPr>
              <a:t>oraz</a:t>
            </a:r>
            <a:r>
              <a:rPr lang="pl-PL" dirty="0"/>
              <a:t> plik</a:t>
            </a:r>
            <a:r>
              <a:rPr lang="pl-PL" u="sng" dirty="0"/>
              <a:t> </a:t>
            </a:r>
            <a:r>
              <a:rPr lang="pl-PL" dirty="0">
                <a:solidFill>
                  <a:srgbClr val="FF0000"/>
                </a:solidFill>
              </a:rPr>
              <a:t>chromedriver.exe</a:t>
            </a:r>
            <a:endParaRPr lang="pl-PL" u="sng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endParaRPr lang="pl-PL" u="sng" dirty="0"/>
          </a:p>
          <a:p>
            <a:pPr marL="101600" indent="0">
              <a:buNone/>
            </a:pPr>
            <a:r>
              <a:rPr lang="pl-PL" dirty="0"/>
              <a:t>Kluczowe – wersja drivera musi odpowiadać wersji przeglądarki. Dobra wiadomość jest taka, że w wersjach Selenium +4.6 dostępny jest </a:t>
            </a:r>
            <a:r>
              <a:rPr lang="pl-PL" dirty="0">
                <a:solidFill>
                  <a:srgbClr val="FF0000"/>
                </a:solidFill>
              </a:rPr>
              <a:t>Selenium Manager</a:t>
            </a:r>
            <a:r>
              <a:rPr lang="pl-PL" dirty="0">
                <a:solidFill>
                  <a:schemeClr val="tx1"/>
                </a:solidFill>
              </a:rPr>
              <a:t>, który automatycznie pobiera odpowiedni driver. Jak to działa?</a:t>
            </a:r>
          </a:p>
          <a:p>
            <a:pPr marL="844550" lvl="1" indent="-285750"/>
            <a:r>
              <a:rPr lang="pl-PL" dirty="0">
                <a:solidFill>
                  <a:schemeClr val="tx1"/>
                </a:solidFill>
              </a:rPr>
              <a:t>Selenium Manager sprawdza wersję przeglądarki na komputerze</a:t>
            </a:r>
          </a:p>
          <a:p>
            <a:pPr marL="844550" lvl="1" indent="-285750"/>
            <a:r>
              <a:rPr lang="pl-PL" dirty="0">
                <a:solidFill>
                  <a:schemeClr val="tx1"/>
                </a:solidFill>
              </a:rPr>
              <a:t>Jeśli drivera brakuje – pobiera go z internetu. </a:t>
            </a:r>
          </a:p>
          <a:p>
            <a:pPr marL="844550" lvl="1" indent="-285750"/>
            <a:r>
              <a:rPr lang="pl-PL" dirty="0">
                <a:solidFill>
                  <a:schemeClr val="tx1"/>
                </a:solidFill>
              </a:rPr>
              <a:t>Cache’uje drivera, aby nie pobierać go przy każdym teście</a:t>
            </a:r>
            <a:endParaRPr lang="pl-P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832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0ED450-684E-9E6D-41AD-C3413007EA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Czym jest asynchroniczność?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2044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3D58-02B5-9484-5E9F-AC308075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Koncept </a:t>
            </a:r>
            <a:r>
              <a:rPr lang="pl-PL" dirty="0">
                <a:solidFill>
                  <a:srgbClr val="FF0000"/>
                </a:solidFill>
              </a:rPr>
              <a:t>asynchroniczności 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4CA5A-69EE-0D32-D407-A30C45A3F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239900"/>
            <a:ext cx="11566500" cy="5151450"/>
          </a:xfrm>
        </p:spPr>
        <p:txBody>
          <a:bodyPr>
            <a:normAutofit/>
          </a:bodyPr>
          <a:lstStyle/>
          <a:p>
            <a:pPr marL="101600" indent="0">
              <a:buNone/>
            </a:pPr>
            <a:r>
              <a:rPr lang="pl-PL" dirty="0"/>
              <a:t>JavaScript działa </a:t>
            </a:r>
            <a:r>
              <a:rPr lang="pl-PL" b="1" dirty="0"/>
              <a:t>jednowątkowo. </a:t>
            </a:r>
            <a:r>
              <a:rPr lang="pl-PL" dirty="0"/>
              <a:t>Gdyby wszystkie operacje były synchroniczne strona „zawieszałaby się” podczas pobierania danych, a animacje nie działałyby płynnie. </a:t>
            </a:r>
            <a:r>
              <a:rPr lang="pl-PL" b="1" dirty="0">
                <a:solidFill>
                  <a:srgbClr val="FF0000"/>
                </a:solidFill>
              </a:rPr>
              <a:t>Asynchroniczność</a:t>
            </a:r>
            <a:r>
              <a:rPr lang="pl-PL" dirty="0"/>
              <a:t> pozwala powiedzieć: </a:t>
            </a:r>
            <a:r>
              <a:rPr lang="pl-PL" b="1" dirty="0"/>
              <a:t>„Wykonaj to zadanie w tle, a gdy się skończy – daj mi znać”</a:t>
            </a:r>
          </a:p>
          <a:p>
            <a:pPr marL="101600" indent="0">
              <a:buNone/>
            </a:pPr>
            <a:endParaRPr lang="pl-PL" sz="1200" b="1" dirty="0"/>
          </a:p>
          <a:p>
            <a:pPr marL="101600" indent="0">
              <a:buNone/>
            </a:pPr>
            <a:r>
              <a:rPr lang="pl-PL" dirty="0"/>
              <a:t>Koncept asynchroniczności  - analogia restauracji:</a:t>
            </a:r>
          </a:p>
          <a:p>
            <a:pPr marL="101600" indent="0">
              <a:buNone/>
            </a:pPr>
            <a:endParaRPr lang="pl-PL" dirty="0"/>
          </a:p>
          <a:p>
            <a:pPr marL="558800" lvl="1" indent="0">
              <a:buNone/>
            </a:pPr>
            <a:r>
              <a:rPr lang="pl-PL" dirty="0"/>
              <a:t>Wyobraź sobie, że piszesz skrypt jako listę zadań dla kelnera:</a:t>
            </a:r>
          </a:p>
          <a:p>
            <a:pPr marL="1244600" lvl="2" indent="-228600">
              <a:buFont typeface="+mj-lt"/>
              <a:buAutoNum type="arabicPeriod"/>
            </a:pPr>
            <a:r>
              <a:rPr lang="pl-PL" dirty="0"/>
              <a:t>Przyjmij zamówienie</a:t>
            </a:r>
          </a:p>
          <a:p>
            <a:pPr marL="1244600" lvl="2" indent="-228600">
              <a:buFont typeface="+mj-lt"/>
              <a:buAutoNum type="arabicPeriod"/>
            </a:pPr>
            <a:r>
              <a:rPr lang="pl-PL" dirty="0"/>
              <a:t>Przynieś zupę</a:t>
            </a:r>
          </a:p>
          <a:p>
            <a:pPr marL="1244600" lvl="2" indent="-228600">
              <a:buFont typeface="+mj-lt"/>
              <a:buAutoNum type="arabicPeriod"/>
            </a:pPr>
            <a:r>
              <a:rPr lang="pl-PL" dirty="0"/>
              <a:t>Przynieś rachunek</a:t>
            </a:r>
          </a:p>
          <a:p>
            <a:pPr marL="1016000" lvl="2" indent="0">
              <a:buNone/>
            </a:pPr>
            <a:endParaRPr lang="pl-PL" dirty="0"/>
          </a:p>
          <a:p>
            <a:pPr marL="558800" lvl="1" indent="0">
              <a:buNone/>
            </a:pPr>
            <a:r>
              <a:rPr lang="pl-PL" dirty="0"/>
              <a:t>W świecie </a:t>
            </a:r>
            <a:r>
              <a:rPr lang="pl-PL" b="1" dirty="0"/>
              <a:t>synchronicznym, </a:t>
            </a:r>
            <a:r>
              <a:rPr lang="pl-PL" dirty="0"/>
              <a:t>kelner po zamówieniu zupy stoi i patrzy na kucharza przez 15 minut, aż zupa będzie gotowa. Dopiero gdy ją dostanie rusza dalej. Cała restauracja stoi.</a:t>
            </a:r>
            <a:br>
              <a:rPr lang="pl-PL" dirty="0"/>
            </a:br>
            <a:br>
              <a:rPr lang="pl-PL" dirty="0"/>
            </a:br>
            <a:r>
              <a:rPr lang="pl-PL" dirty="0"/>
              <a:t>W świecie </a:t>
            </a:r>
            <a:r>
              <a:rPr lang="pl-PL" b="1" dirty="0"/>
              <a:t>asynchronicznym, </a:t>
            </a:r>
            <a:r>
              <a:rPr lang="pl-PL" dirty="0"/>
              <a:t>kelner wysyła zamówienie do kuchni i mówi: „Daj mi znać jak skończysz”. W międzyczasie może przyjąć zamówienie od innego stolika</a:t>
            </a:r>
            <a:br>
              <a:rPr lang="pl-PL" dirty="0"/>
            </a:br>
            <a:endParaRPr lang="pl-PL" dirty="0"/>
          </a:p>
          <a:p>
            <a:pPr marL="5588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9359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233C-345B-C545-62CD-700AE8AF2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Koncept </a:t>
            </a:r>
            <a:r>
              <a:rPr lang="pl-PL" dirty="0">
                <a:solidFill>
                  <a:srgbClr val="FF0000"/>
                </a:solidFill>
              </a:rPr>
              <a:t>asynchroniczności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8F604-D8CB-8F26-623A-B8201EF8E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715388"/>
            <a:ext cx="11566500" cy="4538100"/>
          </a:xfrm>
        </p:spPr>
        <p:txBody>
          <a:bodyPr/>
          <a:lstStyle/>
          <a:p>
            <a:pPr marL="101600" indent="0">
              <a:buNone/>
            </a:pPr>
            <a:r>
              <a:rPr lang="pl-PL" dirty="0"/>
              <a:t>W kontekście Selenium, kiedy Twój kod mówi driver.get(’google.com’), wysyła sygnał do przeglądarki. Przeglądarka potrzebuje czasu na załadowanie obrazków, skryptów i treści. JavaScript nie chce „zamrażać” całego komputera, więc domyślnie leci do następnej linijki kodu, nawet jeśli strona jeszcze się nie otworzyła.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W Selenium prawie każda akcja jest </a:t>
            </a:r>
            <a:r>
              <a:rPr lang="pl-PL" b="1" dirty="0">
                <a:solidFill>
                  <a:srgbClr val="FF0000"/>
                </a:solidFill>
              </a:rPr>
              <a:t>obietnicą (Promise)</a:t>
            </a:r>
            <a:r>
              <a:rPr lang="pl-PL" b="1" dirty="0">
                <a:solidFill>
                  <a:schemeClr val="tx1"/>
                </a:solidFill>
              </a:rPr>
              <a:t>. </a:t>
            </a:r>
            <a:r>
              <a:rPr lang="pl-PL" dirty="0">
                <a:solidFill>
                  <a:schemeClr val="tx1"/>
                </a:solidFill>
              </a:rPr>
              <a:t>Obietnica to taki „bilet”, który mówi: „Teraz jeszcze nie mam wyniku, ale obiecuję że dam Ci go później (albo powiem że wystąpił błąd)”</a:t>
            </a:r>
          </a:p>
          <a:p>
            <a:pPr marL="101600" indent="0">
              <a:buNone/>
            </a:pPr>
            <a:endParaRPr lang="pl-PL" b="1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b="1" dirty="0">
                <a:solidFill>
                  <a:schemeClr val="tx1"/>
                </a:solidFill>
              </a:rPr>
              <a:t>Jeśli nie „poczekasz” na te obietnice, Twój skrypt na przykład spróbuje kliknąć w przycisk którego przeglądarka jeszcze nawet nie zdążyła narysować na ekranie</a:t>
            </a:r>
          </a:p>
        </p:txBody>
      </p:sp>
    </p:spTree>
    <p:extLst>
      <p:ext uri="{BB962C8B-B14F-4D97-AF65-F5344CB8AC3E}">
        <p14:creationId xmlns:p14="http://schemas.microsoft.com/office/powerpoint/2010/main" val="432321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6855-BEF8-D386-D448-38ACF49A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Koncept </a:t>
            </a:r>
            <a:r>
              <a:rPr lang="pl-PL" dirty="0">
                <a:solidFill>
                  <a:srgbClr val="FF0000"/>
                </a:solidFill>
              </a:rPr>
              <a:t>asynchroniczności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BFFF6-2DE6-A0F5-F492-DC6219CE7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623948"/>
            <a:ext cx="11566500" cy="4538100"/>
          </a:xfrm>
        </p:spPr>
        <p:txBody>
          <a:bodyPr/>
          <a:lstStyle/>
          <a:p>
            <a:pPr marL="101600" indent="0">
              <a:buNone/>
            </a:pPr>
            <a:r>
              <a:rPr lang="pl-PL" dirty="0"/>
              <a:t>Rozwiązanie problemu – metody </a:t>
            </a:r>
            <a:r>
              <a:rPr lang="pl-PL" b="1" dirty="0">
                <a:solidFill>
                  <a:srgbClr val="FF0000"/>
                </a:solidFill>
              </a:rPr>
              <a:t>async / await.</a:t>
            </a:r>
          </a:p>
          <a:p>
            <a:pPr marL="101600" indent="0">
              <a:buNone/>
            </a:pPr>
            <a:endParaRPr lang="pl-PL" b="1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b="1" dirty="0">
                <a:solidFill>
                  <a:srgbClr val="FF0000"/>
                </a:solidFill>
              </a:rPr>
              <a:t>Async – </a:t>
            </a:r>
            <a:r>
              <a:rPr lang="pl-PL" dirty="0">
                <a:solidFill>
                  <a:schemeClr val="bg2"/>
                </a:solidFill>
              </a:rPr>
              <a:t>słowo kluczowe stawiane </a:t>
            </a:r>
            <a:r>
              <a:rPr lang="pl-PL" b="1" dirty="0">
                <a:solidFill>
                  <a:schemeClr val="bg2"/>
                </a:solidFill>
              </a:rPr>
              <a:t>przed funkcją</a:t>
            </a:r>
            <a:r>
              <a:rPr lang="pl-PL" dirty="0">
                <a:solidFill>
                  <a:schemeClr val="bg2"/>
                </a:solidFill>
              </a:rPr>
              <a:t>. Mówi ono: „uwaga, ta funkcja będzie zawierać zadania, na które trzeba będzie poczekać”. Funkcja oznaczona jako </a:t>
            </a:r>
            <a:r>
              <a:rPr lang="pl-PL" b="1" dirty="0">
                <a:solidFill>
                  <a:srgbClr val="FF0000"/>
                </a:solidFill>
              </a:rPr>
              <a:t>async </a:t>
            </a:r>
            <a:r>
              <a:rPr lang="pl-PL" dirty="0">
                <a:solidFill>
                  <a:schemeClr val="tx1"/>
                </a:solidFill>
              </a:rPr>
              <a:t>zawsze zwraca obietnicę</a:t>
            </a:r>
          </a:p>
          <a:p>
            <a:pPr marL="101600" indent="0">
              <a:buNone/>
            </a:pPr>
            <a:endParaRPr lang="pl-PL" b="1" dirty="0">
              <a:solidFill>
                <a:schemeClr val="tx1"/>
              </a:solidFill>
            </a:endParaRPr>
          </a:p>
          <a:p>
            <a:pPr marL="101600" indent="0">
              <a:buNone/>
            </a:pPr>
            <a:r>
              <a:rPr lang="pl-PL" b="1" dirty="0">
                <a:solidFill>
                  <a:srgbClr val="FF0000"/>
                </a:solidFill>
              </a:rPr>
              <a:t>Await – </a:t>
            </a:r>
            <a:r>
              <a:rPr lang="pl-PL" dirty="0">
                <a:solidFill>
                  <a:schemeClr val="tx1"/>
                </a:solidFill>
              </a:rPr>
              <a:t>słowo kluczowe używane </a:t>
            </a:r>
            <a:r>
              <a:rPr lang="pl-PL" b="1" dirty="0">
                <a:solidFill>
                  <a:schemeClr val="tx1"/>
                </a:solidFill>
              </a:rPr>
              <a:t>wewnątrz</a:t>
            </a:r>
            <a:r>
              <a:rPr lang="pl-PL" dirty="0">
                <a:solidFill>
                  <a:schemeClr val="tx1"/>
                </a:solidFill>
              </a:rPr>
              <a:t> funkcji async. Mówi ono: „Zatrzymaj wykonywanie tego skryptu w tej linijce i czekaj, aż przeglądarka odpowie, że skończyła. Dopiero wtedy przejdź do następnej linii”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816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82397240-5E25-CE09-DFFB-BCE679AEF5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Upewnijmy się, że wszystko działa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B18478-9219-CC9F-49BA-9217F1257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Zanim przejdziemy dalej...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941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E173-8099-7477-0B89-DACBA7CA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Prosty </a:t>
            </a:r>
            <a:r>
              <a:rPr lang="pl-PL" dirty="0">
                <a:solidFill>
                  <a:srgbClr val="FF0000"/>
                </a:solidFill>
              </a:rPr>
              <a:t>skrypt</a:t>
            </a:r>
            <a:r>
              <a:rPr lang="pl-PL" dirty="0"/>
              <a:t> odwiedzający stronę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1CFFB-7A2E-549C-6B28-486C2519F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en-GB" dirty="0"/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E327463-4545-BC7F-4FE5-6FF36C0B5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684" y="1719538"/>
            <a:ext cx="6538632" cy="405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0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446C73-E51D-011B-C3B5-D090E8698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14700"/>
            <a:ext cx="12192000" cy="828600"/>
          </a:xfrm>
        </p:spPr>
        <p:txBody>
          <a:bodyPr/>
          <a:lstStyle/>
          <a:p>
            <a:r>
              <a:rPr lang="pl-PL" dirty="0"/>
              <a:t>Rozbijmy ten skrypt na części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0019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E3109-B700-C637-A200-22725619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Podstawowy </a:t>
            </a:r>
            <a:r>
              <a:rPr lang="pl-PL" dirty="0">
                <a:solidFill>
                  <a:srgbClr val="FF0000"/>
                </a:solidFill>
              </a:rPr>
              <a:t>import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378CB-6164-ED6C-123E-91D80CAC0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01600" indent="0">
              <a:buNone/>
            </a:pPr>
            <a:r>
              <a:rPr lang="pl-PL" dirty="0"/>
              <a:t>W większości testów Twoja pierwsza linijka będzie wyglądać tak: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Co oznaczają te elementy?</a:t>
            </a:r>
          </a:p>
          <a:p>
            <a:pPr marL="584200" lvl="1" indent="0">
              <a:buNone/>
            </a:pPr>
            <a:endParaRPr lang="pl-PL" b="1" dirty="0"/>
          </a:p>
          <a:p>
            <a:pPr marL="5842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Builder -</a:t>
            </a:r>
            <a:r>
              <a:rPr lang="pl-PL" dirty="0"/>
              <a:t> Twój "konstruktor" przeglądarki. Służy do konfiguracji i uruchomienia sesji (np. wybór Chrome vs Edge).</a:t>
            </a:r>
          </a:p>
          <a:p>
            <a:pPr marL="584200" lvl="1" indent="0">
              <a:buNone/>
            </a:pPr>
            <a:endParaRPr lang="pl-PL" b="1" dirty="0"/>
          </a:p>
          <a:p>
            <a:pPr marL="5842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By -</a:t>
            </a:r>
            <a:r>
              <a:rPr lang="pl-PL" dirty="0"/>
              <a:t> Klasa służąca do tworzenia lokalizatorów. To dzięki niej mówisz: "znajdź element </a:t>
            </a:r>
            <a:r>
              <a:rPr lang="pl-PL" b="1" dirty="0">
                <a:solidFill>
                  <a:srgbClr val="FF0000"/>
                </a:solidFill>
              </a:rPr>
              <a:t>po ID</a:t>
            </a:r>
            <a:r>
              <a:rPr lang="pl-PL" dirty="0"/>
              <a:t>" lub "</a:t>
            </a:r>
            <a:r>
              <a:rPr lang="pl-PL" b="1" dirty="0">
                <a:solidFill>
                  <a:srgbClr val="FF0000"/>
                </a:solidFill>
              </a:rPr>
              <a:t>po nazwie klasy</a:t>
            </a:r>
            <a:r>
              <a:rPr lang="pl-PL" dirty="0"/>
              <a:t>".</a:t>
            </a:r>
          </a:p>
          <a:p>
            <a:pPr marL="584200" lvl="1" indent="0">
              <a:buNone/>
            </a:pPr>
            <a:endParaRPr lang="pl-PL" b="1" dirty="0"/>
          </a:p>
          <a:p>
            <a:pPr marL="5842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Key -</a:t>
            </a:r>
            <a:r>
              <a:rPr lang="pl-PL" dirty="0"/>
              <a:t> Emulator klawiatury. Pozwala wysyłać znaki specjalne, których nie da się wpisać jako zwykły tekst, np. Key.ENTER, Key.TAB, Key.BACK_SPACE czy Key.ESCAPE.</a:t>
            </a:r>
          </a:p>
          <a:p>
            <a:pPr marL="584200" lvl="1" indent="0">
              <a:buNone/>
            </a:pPr>
            <a:endParaRPr lang="pl-PL" b="1" dirty="0"/>
          </a:p>
          <a:p>
            <a:pPr marL="5842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Until -</a:t>
            </a:r>
            <a:r>
              <a:rPr lang="pl-PL" dirty="0"/>
              <a:t> Zbiór gotowych warunków do tzw. "oczekiwania" (Waits). Pozwala wstrzymać test, dopóki coś się nie wydarzy, np. until.elementLocated(...) lub until.titleIs(...).</a:t>
            </a:r>
          </a:p>
          <a:p>
            <a:pPr marL="10160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4380A2-493A-5419-A0D2-E840F3EC0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359" y="2046921"/>
            <a:ext cx="7103281" cy="44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64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6CD8-18EA-F309-4EF5-6AC23FF9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Wzorzec </a:t>
            </a:r>
            <a:r>
              <a:rPr lang="pl-PL" dirty="0">
                <a:solidFill>
                  <a:srgbClr val="FF0000"/>
                </a:solidFill>
              </a:rPr>
              <a:t>Builder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57477-688F-06DE-4B2E-20837841F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853250"/>
            <a:ext cx="11566500" cy="4538100"/>
          </a:xfrm>
        </p:spPr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Nie tworzymy drivera zwykłym </a:t>
            </a:r>
            <a:r>
              <a:rPr lang="pl-PL" b="1" dirty="0">
                <a:solidFill>
                  <a:srgbClr val="FF0000"/>
                </a:solidFill>
              </a:rPr>
              <a:t>new Driver(). </a:t>
            </a:r>
            <a:r>
              <a:rPr lang="pl-PL" dirty="0">
                <a:solidFill>
                  <a:schemeClr val="tx1"/>
                </a:solidFill>
              </a:rPr>
              <a:t>Używamy klasy </a:t>
            </a:r>
            <a:r>
              <a:rPr lang="pl-PL" b="1" dirty="0">
                <a:solidFill>
                  <a:srgbClr val="FF0000"/>
                </a:solidFill>
              </a:rPr>
              <a:t>Builder, </a:t>
            </a:r>
            <a:r>
              <a:rPr lang="pl-PL" dirty="0">
                <a:solidFill>
                  <a:schemeClr val="bg2"/>
                </a:solidFill>
              </a:rPr>
              <a:t>ponieważ proces tworzenia sesji przeglądarki jest złożony. Builder pozwala nam „skonfigurować zamówienie” (wybrać przeglądarkę, ddać opcję) zanim faktycznie ją uruchomimy.</a:t>
            </a:r>
          </a:p>
          <a:p>
            <a:pPr marL="101600" indent="0">
              <a:buNone/>
            </a:pPr>
            <a:endParaRPr lang="pl-PL" dirty="0">
              <a:solidFill>
                <a:schemeClr val="bg2"/>
              </a:solidFill>
            </a:endParaRPr>
          </a:p>
          <a:p>
            <a:pPr marL="101600" indent="0">
              <a:buNone/>
            </a:pPr>
            <a:r>
              <a:rPr lang="pl-PL" dirty="0">
                <a:solidFill>
                  <a:schemeClr val="bg2"/>
                </a:solidFill>
              </a:rPr>
              <a:t>Dlaczego await jest tutaj krytyczny?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>
                <a:solidFill>
                  <a:schemeClr val="bg2"/>
                </a:solidFill>
              </a:rPr>
              <a:t>Metoda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b="1" dirty="0">
                <a:solidFill>
                  <a:srgbClr val="FF0000"/>
                </a:solidFill>
              </a:rPr>
              <a:t>build() </a:t>
            </a:r>
            <a:r>
              <a:rPr lang="pl-PL" dirty="0">
                <a:solidFill>
                  <a:schemeClr val="bg2"/>
                </a:solidFill>
              </a:rPr>
              <a:t>nie zwraca od razu gotowego okna przeglądarki, ona zwraca </a:t>
            </a:r>
            <a:r>
              <a:rPr lang="pl-PL" b="1" dirty="0">
                <a:solidFill>
                  <a:srgbClr val="FF0000"/>
                </a:solidFill>
              </a:rPr>
              <a:t>Promise (Obietnice).</a:t>
            </a:r>
          </a:p>
          <a:p>
            <a:pPr marL="101600" indent="0">
              <a:buNone/>
            </a:pPr>
            <a:endParaRPr lang="pl-PL" b="1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b="1" dirty="0">
                <a:solidFill>
                  <a:schemeClr val="tx1"/>
                </a:solidFill>
              </a:rPr>
              <a:t>W nowoczesnych wersjach Node, wprowadzoną funkcjonalność Top-Level Await.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E7067-361A-D599-9F2E-BEE40F9D3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674" y="1629888"/>
            <a:ext cx="6858535" cy="4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21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FE8C-F997-8CED-EED6-F5CF3DB5C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Testowanie funkcjonalności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29014-9D3D-A609-7343-AD147BC36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pPr marL="101600" indent="0">
              <a:buNone/>
            </a:pPr>
            <a:r>
              <a:rPr lang="pl-PL" sz="1800" dirty="0"/>
              <a:t>W bloku try:</a:t>
            </a:r>
          </a:p>
          <a:p>
            <a:pPr marL="558800" lvl="1" indent="0">
              <a:buNone/>
            </a:pPr>
            <a:r>
              <a:rPr lang="pl-PL" sz="1400" dirty="0"/>
              <a:t>	Przechodzimy na stronę google.com. Metoda await oznacza, że skrypt zaczeka aż strona się załaduje.</a:t>
            </a:r>
          </a:p>
          <a:p>
            <a:pPr marL="558800" lvl="1" indent="0">
              <a:buNone/>
            </a:pPr>
            <a:r>
              <a:rPr lang="pl-PL" sz="1400" dirty="0"/>
              <a:t>	Następnie pobieramy tytuł strony i zapisujemy go do zmiennej. Na koniec wypisujemy wynik do konsoli.</a:t>
            </a:r>
          </a:p>
          <a:p>
            <a:pPr marL="558800" lvl="1" indent="0">
              <a:buNone/>
            </a:pPr>
            <a:endParaRPr lang="pl-PL" sz="1400" dirty="0"/>
          </a:p>
          <a:p>
            <a:pPr marL="101600" indent="0">
              <a:buNone/>
            </a:pPr>
            <a:r>
              <a:rPr lang="pl-PL" sz="1800" dirty="0"/>
              <a:t>Blok finally:</a:t>
            </a:r>
          </a:p>
          <a:p>
            <a:pPr marL="558800" lvl="1" indent="0">
              <a:buNone/>
            </a:pPr>
            <a:r>
              <a:rPr lang="pl-PL" sz="1400" dirty="0"/>
              <a:t>	Zapewnia stabilność. Niezależnie od tego co wydarzy się w teście, sesja przeglądarki i proces sterownika 	zostanie zakończony</a:t>
            </a:r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E7E41CF-16D1-13C2-2C39-EBB2730DC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175" y="1085606"/>
            <a:ext cx="4923865" cy="242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221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20DA01-3515-262E-C4AC-1A79360DF8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Interakcja ze stroną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7050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C7AB-5896-D92F-5115-0CF9A0D8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Polecenia </a:t>
            </a:r>
            <a:r>
              <a:rPr lang="pl-PL" dirty="0">
                <a:solidFill>
                  <a:srgbClr val="FF0000"/>
                </a:solidFill>
              </a:rPr>
              <a:t>„globalne”</a:t>
            </a:r>
            <a:r>
              <a:rPr lang="pl-PL" dirty="0"/>
              <a:t> i </a:t>
            </a:r>
            <a:r>
              <a:rPr lang="pl-PL" dirty="0">
                <a:solidFill>
                  <a:srgbClr val="FF0000"/>
                </a:solidFill>
              </a:rPr>
              <a:t>„lokalne”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66DD8-F700-E1FE-79E1-0141B6263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Wyobraź sobie że </a:t>
            </a:r>
            <a:r>
              <a:rPr lang="pl-PL" b="1" dirty="0">
                <a:solidFill>
                  <a:srgbClr val="FF0000"/>
                </a:solidFill>
              </a:rPr>
              <a:t>Driver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>
                <a:solidFill>
                  <a:schemeClr val="bg2"/>
                </a:solidFill>
              </a:rPr>
              <a:t>to cała przeglądarka (okno, karta, pasek adresu), a </a:t>
            </a:r>
            <a:r>
              <a:rPr lang="pl-PL" b="1" dirty="0">
                <a:solidFill>
                  <a:srgbClr val="FF0000"/>
                </a:solidFill>
              </a:rPr>
              <a:t>WebElement</a:t>
            </a:r>
            <a:r>
              <a:rPr lang="pl-PL" dirty="0">
                <a:solidFill>
                  <a:schemeClr val="bg2"/>
                </a:solidFill>
              </a:rPr>
              <a:t> to tylko konkretna rzecz na stronie (przycisk, pole tekstowe). </a:t>
            </a:r>
          </a:p>
          <a:p>
            <a:pPr marL="101600" indent="0">
              <a:buNone/>
            </a:pPr>
            <a:endParaRPr lang="pl-PL" dirty="0">
              <a:solidFill>
                <a:schemeClr val="bg2"/>
              </a:solidFill>
            </a:endParaRPr>
          </a:p>
          <a:p>
            <a:pPr marL="101600" indent="0">
              <a:buNone/>
            </a:pPr>
            <a:r>
              <a:rPr lang="pl-PL" dirty="0">
                <a:solidFill>
                  <a:schemeClr val="bg2"/>
                </a:solidFill>
              </a:rPr>
              <a:t>Komendy na </a:t>
            </a:r>
            <a:r>
              <a:rPr lang="pl-PL" dirty="0">
                <a:solidFill>
                  <a:srgbClr val="FF0000"/>
                </a:solidFill>
              </a:rPr>
              <a:t>Driverze</a:t>
            </a:r>
            <a:r>
              <a:rPr lang="pl-PL" dirty="0">
                <a:solidFill>
                  <a:schemeClr val="bg2"/>
                </a:solidFill>
              </a:rPr>
              <a:t> – dotyczą całego kontekstu przeglądarki lub sesji. Nie musisz niczego „szukać”, żeby zapytać o tytuł strony lub zmienić adres URL</a:t>
            </a:r>
          </a:p>
          <a:p>
            <a:pPr marL="558800" lvl="1" indent="0">
              <a:buNone/>
            </a:pPr>
            <a:r>
              <a:rPr lang="pl-PL" dirty="0">
                <a:solidFill>
                  <a:srgbClr val="FF0000"/>
                </a:solidFill>
              </a:rPr>
              <a:t>driver.getTitle() </a:t>
            </a:r>
            <a:r>
              <a:rPr lang="pl-PL" dirty="0">
                <a:solidFill>
                  <a:schemeClr val="bg2"/>
                </a:solidFill>
              </a:rPr>
              <a:t>– pytasz o tytuł całej karty</a:t>
            </a:r>
          </a:p>
          <a:p>
            <a:pPr marL="558800" lvl="1" indent="0">
              <a:buNone/>
            </a:pPr>
            <a:r>
              <a:rPr lang="pl-PL" dirty="0">
                <a:solidFill>
                  <a:srgbClr val="FF0000"/>
                </a:solidFill>
              </a:rPr>
              <a:t>driver.getCurrentUrl() </a:t>
            </a:r>
            <a:r>
              <a:rPr lang="pl-PL" dirty="0">
                <a:solidFill>
                  <a:schemeClr val="bg2"/>
                </a:solidFill>
              </a:rPr>
              <a:t>– sprawdzasz gdzie aktualnie </a:t>
            </a:r>
          </a:p>
          <a:p>
            <a:pPr marL="558800" lvl="1" indent="0">
              <a:buNone/>
            </a:pPr>
            <a:r>
              <a:rPr lang="pl-PL" dirty="0">
                <a:solidFill>
                  <a:srgbClr val="FF0000"/>
                </a:solidFill>
              </a:rPr>
              <a:t>driver.get(url) </a:t>
            </a:r>
            <a:r>
              <a:rPr lang="pl-PL" dirty="0">
                <a:solidFill>
                  <a:schemeClr val="bg2"/>
                </a:solidFill>
              </a:rPr>
              <a:t>– nakazujesz całej przeglądarce nawigacje</a:t>
            </a:r>
          </a:p>
          <a:p>
            <a:pPr marL="558800" lvl="1" indent="0">
              <a:buNone/>
            </a:pPr>
            <a:r>
              <a:rPr lang="pl-PL" dirty="0">
                <a:solidFill>
                  <a:srgbClr val="FF0000"/>
                </a:solidFill>
              </a:rPr>
              <a:t>driver.findElement() </a:t>
            </a:r>
            <a:r>
              <a:rPr lang="pl-PL" dirty="0">
                <a:solidFill>
                  <a:schemeClr val="bg2"/>
                </a:solidFill>
              </a:rPr>
              <a:t>– znajdz element </a:t>
            </a:r>
          </a:p>
          <a:p>
            <a:pPr marL="558800" lvl="1" indent="0">
              <a:buNone/>
            </a:pPr>
            <a:endParaRPr lang="pl-PL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dirty="0">
                <a:solidFill>
                  <a:schemeClr val="bg2"/>
                </a:solidFill>
              </a:rPr>
              <a:t>Komendy na Element – wymagają wcześniejszego zlokaliowania obiektu. Nie możesz „kliknąć”, nie wiedząc w co.</a:t>
            </a:r>
          </a:p>
          <a:p>
            <a:pPr marL="558800" lvl="1" indent="0">
              <a:buNone/>
            </a:pPr>
            <a:r>
              <a:rPr lang="pl-PL" dirty="0">
                <a:solidFill>
                  <a:srgbClr val="FF0000"/>
                </a:solidFill>
              </a:rPr>
              <a:t>element.click() </a:t>
            </a:r>
            <a:r>
              <a:rPr lang="pl-PL" dirty="0">
                <a:solidFill>
                  <a:schemeClr val="bg2"/>
                </a:solidFill>
              </a:rPr>
              <a:t>- kliknięcie w element</a:t>
            </a:r>
          </a:p>
          <a:p>
            <a:pPr marL="558800" lvl="1" indent="0">
              <a:buNone/>
            </a:pPr>
            <a:r>
              <a:rPr lang="pl-PL" dirty="0">
                <a:solidFill>
                  <a:srgbClr val="FF0000"/>
                </a:solidFill>
              </a:rPr>
              <a:t>element.sendKeys() </a:t>
            </a:r>
            <a:r>
              <a:rPr lang="pl-PL" dirty="0">
                <a:solidFill>
                  <a:schemeClr val="bg2"/>
                </a:solidFill>
              </a:rPr>
              <a:t>– wysłanie kombinacji klawiszy (np. do elementu input)</a:t>
            </a:r>
          </a:p>
        </p:txBody>
      </p:sp>
    </p:spTree>
    <p:extLst>
      <p:ext uri="{BB962C8B-B14F-4D97-AF65-F5344CB8AC3E}">
        <p14:creationId xmlns:p14="http://schemas.microsoft.com/office/powerpoint/2010/main" val="1424310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67CB8-6BFB-48CD-362D-4FC62449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>
                <a:solidFill>
                  <a:schemeClr val="bg2"/>
                </a:solidFill>
              </a:rPr>
              <a:t>Klasa</a:t>
            </a:r>
            <a:r>
              <a:rPr lang="pl-PL" dirty="0">
                <a:solidFill>
                  <a:srgbClr val="FF0000"/>
                </a:solidFill>
              </a:rPr>
              <a:t> By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3516D-538E-1AAF-3305-DA3665351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Klasa </a:t>
            </a:r>
            <a:r>
              <a:rPr lang="pl-PL" b="1" dirty="0">
                <a:solidFill>
                  <a:srgbClr val="FF0000"/>
                </a:solidFill>
              </a:rPr>
              <a:t>By</a:t>
            </a:r>
            <a:r>
              <a:rPr lang="pl-PL" dirty="0"/>
              <a:t> zawiera statyczne metody, które pomagają Selenium zidentyfikować element w kodzie HTML.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Najważniejsze metody </a:t>
            </a:r>
            <a:r>
              <a:rPr lang="pl-PL" b="1" dirty="0">
                <a:solidFill>
                  <a:srgbClr val="FF0000"/>
                </a:solidFill>
              </a:rPr>
              <a:t>By</a:t>
            </a:r>
            <a:r>
              <a:rPr lang="pl-PL" dirty="0"/>
              <a:t>:</a:t>
            </a:r>
          </a:p>
          <a:p>
            <a:pPr marL="101600" indent="0">
              <a:buNone/>
            </a:pPr>
            <a:endParaRPr lang="pl-PL" dirty="0"/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By.id(’identyfikator’) </a:t>
            </a:r>
            <a:r>
              <a:rPr lang="pl-PL" dirty="0">
                <a:solidFill>
                  <a:schemeClr val="bg2"/>
                </a:solidFill>
              </a:rPr>
              <a:t>– najszybsza I najpewniejsza metoda. ID powinno być unikalne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By.name(’nazwa’)</a:t>
            </a:r>
            <a:r>
              <a:rPr lang="pl-PL" b="1" dirty="0">
                <a:solidFill>
                  <a:schemeClr val="bg2"/>
                </a:solidFill>
              </a:rPr>
              <a:t> </a:t>
            </a:r>
            <a:r>
              <a:rPr lang="pl-PL" dirty="0">
                <a:solidFill>
                  <a:schemeClr val="bg2"/>
                </a:solidFill>
              </a:rPr>
              <a:t>– często używane w polach formularzy 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By.css(’selektor’) </a:t>
            </a:r>
            <a:r>
              <a:rPr lang="pl-PL" dirty="0">
                <a:solidFill>
                  <a:schemeClr val="bg2"/>
                </a:solidFill>
              </a:rPr>
              <a:t>– najbardziej elastyczna metoda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By.xpath(’sciezka’) </a:t>
            </a:r>
            <a:r>
              <a:rPr lang="pl-PL" dirty="0">
                <a:solidFill>
                  <a:schemeClr val="bg2"/>
                </a:solidFill>
              </a:rPr>
              <a:t>– wyszukiwanie po xpath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By.className(’klasa’) </a:t>
            </a:r>
            <a:r>
              <a:rPr lang="pl-PL" dirty="0">
                <a:solidFill>
                  <a:schemeClr val="bg2"/>
                </a:solidFill>
              </a:rPr>
              <a:t>– szuka po nazwie klasy (nie radzi sobie z elementami mającym wiele klas)</a:t>
            </a:r>
          </a:p>
        </p:txBody>
      </p:sp>
    </p:spTree>
    <p:extLst>
      <p:ext uri="{BB962C8B-B14F-4D97-AF65-F5344CB8AC3E}">
        <p14:creationId xmlns:p14="http://schemas.microsoft.com/office/powerpoint/2010/main" val="270557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654B4-9E91-AC0F-475A-8CF088FF6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Metody </a:t>
            </a:r>
            <a:r>
              <a:rPr lang="pl-PL" dirty="0">
                <a:solidFill>
                  <a:srgbClr val="FF0000"/>
                </a:solidFill>
              </a:rPr>
              <a:t>interakcji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D49F8-EDF5-04E4-860D-08EC79283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Gdy już znajdziesz element za pomocą </a:t>
            </a:r>
            <a:r>
              <a:rPr lang="pl-PL" b="1" dirty="0">
                <a:solidFill>
                  <a:srgbClr val="FF0000"/>
                </a:solidFill>
              </a:rPr>
              <a:t>driver.findElement(), By.id(), </a:t>
            </a:r>
            <a:r>
              <a:rPr lang="pl-PL" dirty="0"/>
              <a:t>otrzymujesz obiekt typu WebElement. To na nim wykonujesz akcje:</a:t>
            </a:r>
          </a:p>
          <a:p>
            <a:pPr marL="101600" indent="0">
              <a:buNone/>
            </a:pPr>
            <a:endParaRPr lang="pl-PL" dirty="0"/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.click()</a:t>
            </a:r>
            <a:r>
              <a:rPr lang="pl-PL" dirty="0">
                <a:solidFill>
                  <a:srgbClr val="FF0000"/>
                </a:solidFill>
              </a:rPr>
              <a:t>: </a:t>
            </a:r>
            <a:r>
              <a:rPr lang="pl-PL" dirty="0"/>
              <a:t>Klika w element (przycisk, link, checkbox).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.sendKeys('tekst')</a:t>
            </a:r>
            <a:r>
              <a:rPr lang="pl-PL" dirty="0">
                <a:solidFill>
                  <a:srgbClr val="FF0000"/>
                </a:solidFill>
              </a:rPr>
              <a:t>: </a:t>
            </a:r>
            <a:r>
              <a:rPr lang="pl-PL" dirty="0"/>
              <a:t>Wpisuje tekst do pola tekstowego.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.clear()</a:t>
            </a:r>
            <a:r>
              <a:rPr lang="pl-PL" dirty="0">
                <a:solidFill>
                  <a:srgbClr val="FF0000"/>
                </a:solidFill>
              </a:rPr>
              <a:t>: </a:t>
            </a:r>
            <a:r>
              <a:rPr lang="pl-PL" dirty="0"/>
              <a:t>Czyści zawartość pola tekstowego (dobra praktyka przed sendKeys).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.getText()</a:t>
            </a:r>
            <a:r>
              <a:rPr lang="pl-PL" dirty="0">
                <a:solidFill>
                  <a:srgbClr val="FF0000"/>
                </a:solidFill>
              </a:rPr>
              <a:t>: </a:t>
            </a:r>
            <a:r>
              <a:rPr lang="pl-PL" dirty="0"/>
              <a:t>Pobiera tekst widoczny dla użytkownika (np. do asercji).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.getAttribute('nazwa')</a:t>
            </a:r>
            <a:r>
              <a:rPr lang="pl-PL" dirty="0">
                <a:solidFill>
                  <a:srgbClr val="FF0000"/>
                </a:solidFill>
              </a:rPr>
              <a:t>: </a:t>
            </a:r>
            <a:r>
              <a:rPr lang="pl-PL" dirty="0"/>
              <a:t>Pobiera wartość atrybutu (np. value, href, src).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.isDisplayed() </a:t>
            </a:r>
            <a:r>
              <a:rPr lang="pl-PL" dirty="0"/>
              <a:t>– czy element jest widoczny (zwraca true lub false zależnie czy element jest widoczny)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2744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ADCE-4A7C-436E-1CCC-E9F10071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Klasa </a:t>
            </a:r>
            <a:r>
              <a:rPr lang="pl-PL" dirty="0">
                <a:solidFill>
                  <a:srgbClr val="FF0000"/>
                </a:solidFill>
              </a:rPr>
              <a:t>Key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F8186-6D48-D993-0602-69196667E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Czasami samo wpisanie tekstu nie wystarczy. Musisz wcisnąć Enter, by wysłać formularz, lub Tab, by przejść dalej. Do tego służy moduł </a:t>
            </a:r>
            <a:r>
              <a:rPr lang="pl-PL" dirty="0">
                <a:solidFill>
                  <a:srgbClr val="FF0000"/>
                </a:solidFill>
              </a:rPr>
              <a:t>Key</a:t>
            </a:r>
            <a:r>
              <a:rPr lang="pl-PL" dirty="0"/>
              <a:t>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key.ENTER / key.RETURN</a:t>
            </a:r>
            <a:r>
              <a:rPr lang="pl-PL" dirty="0">
                <a:solidFill>
                  <a:srgbClr val="FF0000"/>
                </a:solidFill>
              </a:rPr>
              <a:t>: </a:t>
            </a:r>
            <a:r>
              <a:rPr lang="pl-PL" dirty="0"/>
              <a:t>Zatwierdzenie formularza lub wyszukiwania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key.TAB</a:t>
            </a:r>
            <a:r>
              <a:rPr lang="pl-PL" dirty="0">
                <a:solidFill>
                  <a:srgbClr val="FF0000"/>
                </a:solidFill>
              </a:rPr>
              <a:t>: </a:t>
            </a:r>
            <a:r>
              <a:rPr lang="pl-PL" dirty="0"/>
              <a:t>Przejście do następnego pola.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key.ESCAPE</a:t>
            </a:r>
            <a:r>
              <a:rPr lang="pl-PL" dirty="0">
                <a:solidFill>
                  <a:srgbClr val="FF0000"/>
                </a:solidFill>
              </a:rPr>
              <a:t>: </a:t>
            </a:r>
            <a:r>
              <a:rPr lang="pl-PL" dirty="0"/>
              <a:t>np zamknięcie wyskakującego okienka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k</a:t>
            </a:r>
            <a:r>
              <a:rPr lang="en-GB" b="1" dirty="0" err="1">
                <a:solidFill>
                  <a:srgbClr val="FF0000"/>
                </a:solidFill>
              </a:rPr>
              <a:t>ey.chord</a:t>
            </a:r>
            <a:r>
              <a:rPr lang="en-GB" b="1" dirty="0">
                <a:solidFill>
                  <a:srgbClr val="FF0000"/>
                </a:solidFill>
              </a:rPr>
              <a:t>(</a:t>
            </a:r>
            <a:r>
              <a:rPr lang="en-GB" b="1" dirty="0" err="1">
                <a:solidFill>
                  <a:srgbClr val="FF0000"/>
                </a:solidFill>
              </a:rPr>
              <a:t>Key.CONTROL</a:t>
            </a:r>
            <a:r>
              <a:rPr lang="en-GB" b="1" dirty="0">
                <a:solidFill>
                  <a:srgbClr val="FF0000"/>
                </a:solidFill>
              </a:rPr>
              <a:t>, 'a')</a:t>
            </a:r>
            <a:r>
              <a:rPr lang="en-GB" dirty="0">
                <a:solidFill>
                  <a:srgbClr val="FF0000"/>
                </a:solidFill>
              </a:rPr>
              <a:t>: </a:t>
            </a:r>
            <a:r>
              <a:rPr lang="en-GB" dirty="0" err="1"/>
              <a:t>Skróty</a:t>
            </a:r>
            <a:r>
              <a:rPr lang="en-GB" dirty="0"/>
              <a:t> </a:t>
            </a:r>
            <a:r>
              <a:rPr lang="en-GB" dirty="0" err="1"/>
              <a:t>klawiszowe</a:t>
            </a:r>
            <a:r>
              <a:rPr lang="en-GB" dirty="0"/>
              <a:t> (np. </a:t>
            </a:r>
            <a:r>
              <a:rPr lang="en-GB" dirty="0" err="1"/>
              <a:t>zaznacz</a:t>
            </a:r>
            <a:r>
              <a:rPr lang="en-GB" dirty="0"/>
              <a:t> </a:t>
            </a:r>
            <a:r>
              <a:rPr lang="en-GB" dirty="0" err="1"/>
              <a:t>wszystko</a:t>
            </a:r>
            <a:r>
              <a:rPr lang="en-GB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32797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7A5D-8593-2B7A-4E82-F763CD07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Klasa </a:t>
            </a:r>
            <a:r>
              <a:rPr lang="pl-PL" dirty="0">
                <a:solidFill>
                  <a:srgbClr val="FF0000"/>
                </a:solidFill>
              </a:rPr>
              <a:t>Until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9A36E-75CF-CCCD-15AD-4AC615A47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642236"/>
            <a:ext cx="11566500" cy="4538100"/>
          </a:xfrm>
        </p:spPr>
        <p:txBody>
          <a:bodyPr/>
          <a:lstStyle/>
          <a:p>
            <a:pPr marL="101600" indent="0">
              <a:buNone/>
            </a:pPr>
            <a:r>
              <a:rPr lang="pl-PL" dirty="0"/>
              <a:t>Zamiast zgadywać i używać "brudnych" przerw typu driver.sleep(5000), używamy klasy </a:t>
            </a:r>
            <a:r>
              <a:rPr lang="pl-PL" b="1" dirty="0">
                <a:solidFill>
                  <a:srgbClr val="FF0000"/>
                </a:solidFill>
              </a:rPr>
              <a:t>until</a:t>
            </a:r>
            <a:r>
              <a:rPr lang="pl-PL" dirty="0"/>
              <a:t>, aby powiedzieć: </a:t>
            </a:r>
            <a:r>
              <a:rPr lang="pl-PL" i="1" dirty="0"/>
              <a:t>"Czekaj tak długo, jak to konieczne, ale nie dłużej niż X sekund, aż spełni się konkretny warunek"</a:t>
            </a:r>
            <a:r>
              <a:rPr lang="pl-PL" dirty="0"/>
              <a:t>.</a:t>
            </a:r>
          </a:p>
          <a:p>
            <a:pPr marL="101600" indent="0">
              <a:buNone/>
            </a:pPr>
            <a:endParaRPr lang="pl-PL" dirty="0"/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until.elementLocated(locator)</a:t>
            </a:r>
            <a:r>
              <a:rPr lang="pl-PL" dirty="0">
                <a:solidFill>
                  <a:srgbClr val="FF0000"/>
                </a:solidFill>
              </a:rPr>
              <a:t>: </a:t>
            </a:r>
            <a:r>
              <a:rPr lang="pl-PL" dirty="0"/>
              <a:t>Czeka, aż element w ogóle pojawi się w kodzie HTML (DOM).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until.elementIsVisible(element)</a:t>
            </a:r>
            <a:r>
              <a:rPr lang="pl-PL" dirty="0">
                <a:solidFill>
                  <a:srgbClr val="FF0000"/>
                </a:solidFill>
              </a:rPr>
              <a:t>:</a:t>
            </a:r>
            <a:r>
              <a:rPr lang="pl-PL" dirty="0"/>
              <a:t> Czeka, aż element będzie widoczny na ekranie (nie jest ukryty przez CSS).</a:t>
            </a:r>
          </a:p>
          <a:p>
            <a:pPr marL="558800" lvl="1" indent="0">
              <a:buNone/>
            </a:pPr>
            <a:r>
              <a:rPr lang="pl-PL" b="1" dirty="0">
                <a:solidFill>
                  <a:srgbClr val="FF0000"/>
                </a:solidFill>
              </a:rPr>
              <a:t>until.elementIsEnabled(element)</a:t>
            </a:r>
            <a:r>
              <a:rPr lang="pl-PL" dirty="0">
                <a:solidFill>
                  <a:srgbClr val="FF0000"/>
                </a:solidFill>
              </a:rPr>
              <a:t>: </a:t>
            </a:r>
            <a:r>
              <a:rPr lang="pl-PL" dirty="0"/>
              <a:t>Czeka, aż przycisk lub pole stanie się aktywne (np. po zaznaczeniu checkboxa).</a:t>
            </a:r>
          </a:p>
          <a:p>
            <a:pPr marL="1016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543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483-1694-FB4D-F509-599DA33EE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>
                <a:solidFill>
                  <a:srgbClr val="FF0000"/>
                </a:solidFill>
              </a:rPr>
              <a:t>Asercje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655B4-C7DD-6692-E3A9-B1107223F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Moduł </a:t>
            </a:r>
            <a:r>
              <a:rPr lang="pl-PL" b="1" dirty="0">
                <a:solidFill>
                  <a:srgbClr val="FF0000"/>
                </a:solidFill>
              </a:rPr>
              <a:t>node:assert </a:t>
            </a:r>
            <a:r>
              <a:rPr lang="pl-PL" dirty="0"/>
              <a:t>jest wbudowany w Node.js, więc nie musisz niczego instalować. Jest to najczystszy sposób na dodanie weryfikacji do Twoich testów Selenium.</a:t>
            </a:r>
          </a:p>
          <a:p>
            <a:pPr marL="558800" lvl="1" indent="0">
              <a:buNone/>
            </a:pPr>
            <a:endParaRPr lang="pl-PL" dirty="0"/>
          </a:p>
          <a:p>
            <a:pPr marL="558800" lvl="1" indent="0">
              <a:buNone/>
            </a:pPr>
            <a:r>
              <a:rPr lang="en-GB" b="1" dirty="0" err="1">
                <a:solidFill>
                  <a:srgbClr val="FF0000"/>
                </a:solidFill>
              </a:rPr>
              <a:t>assert.strictEqual</a:t>
            </a:r>
            <a:r>
              <a:rPr lang="en-GB" b="1" dirty="0">
                <a:solidFill>
                  <a:srgbClr val="FF0000"/>
                </a:solidFill>
              </a:rPr>
              <a:t>(actual, expected, [message])</a:t>
            </a:r>
            <a:r>
              <a:rPr lang="pl-PL" b="1" dirty="0">
                <a:solidFill>
                  <a:srgbClr val="FF0000"/>
                </a:solidFill>
              </a:rPr>
              <a:t>: </a:t>
            </a:r>
          </a:p>
          <a:p>
            <a:pPr marL="558800" lvl="1" indent="0">
              <a:buNone/>
            </a:pPr>
            <a:r>
              <a:rPr lang="en-GB" b="1" dirty="0" err="1">
                <a:solidFill>
                  <a:srgbClr val="FF0000"/>
                </a:solidFill>
              </a:rPr>
              <a:t>assert.notStrictEqual</a:t>
            </a:r>
            <a:r>
              <a:rPr lang="en-GB" b="1" dirty="0">
                <a:solidFill>
                  <a:srgbClr val="FF0000"/>
                </a:solidFill>
              </a:rPr>
              <a:t>(actual, expected, [message])</a:t>
            </a:r>
            <a:endParaRPr lang="pl-PL" b="1" dirty="0">
              <a:solidFill>
                <a:srgbClr val="FF0000"/>
              </a:solidFill>
            </a:endParaRPr>
          </a:p>
          <a:p>
            <a:pPr marL="558800" lvl="1" indent="0">
              <a:buNone/>
            </a:pPr>
            <a:r>
              <a:rPr lang="en-GB" b="1" dirty="0" err="1">
                <a:solidFill>
                  <a:srgbClr val="FF0000"/>
                </a:solidFill>
              </a:rPr>
              <a:t>assert.ok</a:t>
            </a:r>
            <a:r>
              <a:rPr lang="en-GB" b="1" dirty="0">
                <a:solidFill>
                  <a:srgbClr val="FF0000"/>
                </a:solidFill>
              </a:rPr>
              <a:t>(value, [message])</a:t>
            </a:r>
            <a:endParaRPr lang="pl-PL" b="1" dirty="0">
              <a:solidFill>
                <a:srgbClr val="FF0000"/>
              </a:solidFill>
            </a:endParaRPr>
          </a:p>
          <a:p>
            <a:pPr marL="558800" lvl="1" indent="0">
              <a:buNone/>
            </a:pPr>
            <a:r>
              <a:rPr lang="en-GB" b="1" dirty="0" err="1">
                <a:solidFill>
                  <a:srgbClr val="FF0000"/>
                </a:solidFill>
              </a:rPr>
              <a:t>assert.match</a:t>
            </a:r>
            <a:r>
              <a:rPr lang="en-GB" b="1" dirty="0">
                <a:solidFill>
                  <a:srgbClr val="FF0000"/>
                </a:solidFill>
              </a:rPr>
              <a:t>(string, </a:t>
            </a:r>
            <a:r>
              <a:rPr lang="en-GB" b="1" dirty="0" err="1">
                <a:solidFill>
                  <a:srgbClr val="FF0000"/>
                </a:solidFill>
              </a:rPr>
              <a:t>regexp</a:t>
            </a:r>
            <a:r>
              <a:rPr lang="en-GB" b="1" dirty="0">
                <a:solidFill>
                  <a:srgbClr val="FF0000"/>
                </a:solidFill>
              </a:rPr>
              <a:t>, [message])</a:t>
            </a:r>
            <a:r>
              <a:rPr lang="pl-PL" b="1" dirty="0">
                <a:solidFill>
                  <a:srgbClr val="FF0000"/>
                </a:solidFill>
              </a:rPr>
              <a:t>:</a:t>
            </a:r>
          </a:p>
          <a:p>
            <a:pPr marL="558800" lvl="1" indent="0">
              <a:buNone/>
            </a:pPr>
            <a:endParaRPr lang="pl-PL" dirty="0"/>
          </a:p>
          <a:p>
            <a:pPr marL="558800" lvl="1" indent="0">
              <a:buNone/>
            </a:pPr>
            <a:endParaRPr lang="pl-PL" dirty="0"/>
          </a:p>
          <a:p>
            <a:pPr marL="558800" lvl="1" indent="0">
              <a:buNone/>
            </a:pPr>
            <a:endParaRPr lang="pl-PL" dirty="0">
              <a:solidFill>
                <a:srgbClr val="F20B3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558800" lvl="1" indent="0">
              <a:buNone/>
            </a:pPr>
            <a:r>
              <a:rPr lang="pl-PL" b="1" dirty="0">
                <a:solidFill>
                  <a:schemeClr val="tx1"/>
                </a:solidFill>
              </a:rPr>
              <a:t>Dokumentacja modułu node:assert:</a:t>
            </a:r>
            <a:endParaRPr lang="pl-PL" b="1" dirty="0">
              <a:solidFill>
                <a:schemeClr val="tx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558800" lvl="1" indent="0">
              <a:buNone/>
            </a:pPr>
            <a:r>
              <a:rPr lang="pl-PL" dirty="0">
                <a:solidFill>
                  <a:srgbClr val="F20B3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https://nodejs.org/api/assert.html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88425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7E8EE-2303-F009-C5C3-6B7583DE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Gdzie szukać dokumentacji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CB801-C834-0758-705D-E91638141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Oficjalne API selenium dla JavaScript:</a:t>
            </a:r>
          </a:p>
          <a:p>
            <a:pPr marL="558800" lvl="1" indent="0">
              <a:buNone/>
            </a:pPr>
            <a:r>
              <a:rPr lang="en-GB" dirty="0">
                <a:hlinkClick r:id="rId2"/>
              </a:rPr>
              <a:t>www.selenium.dev/selenium/docs/api/javascript/</a:t>
            </a:r>
            <a:endParaRPr lang="pl-PL" dirty="0"/>
          </a:p>
          <a:p>
            <a:pPr marL="558800" lvl="1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en-GB" dirty="0" err="1"/>
              <a:t>Selenium.dev</a:t>
            </a:r>
            <a:r>
              <a:rPr lang="en-GB" dirty="0"/>
              <a:t> - </a:t>
            </a:r>
            <a:r>
              <a:rPr lang="en-GB" dirty="0" err="1"/>
              <a:t>Podręcznik</a:t>
            </a:r>
            <a:r>
              <a:rPr lang="en-GB" dirty="0"/>
              <a:t> (</a:t>
            </a:r>
            <a:r>
              <a:rPr lang="pl-PL" dirty="0"/>
              <a:t>dobry na początek</a:t>
            </a:r>
            <a:r>
              <a:rPr lang="en-GB" dirty="0"/>
              <a:t>)</a:t>
            </a:r>
            <a:endParaRPr lang="pl-PL" dirty="0"/>
          </a:p>
          <a:p>
            <a:pPr marL="558800" lvl="1" indent="0">
              <a:buNone/>
            </a:pPr>
            <a:r>
              <a:rPr lang="en-GB" dirty="0">
                <a:hlinkClick r:id="rId3"/>
              </a:rPr>
              <a:t>www.selenium.dev/documentation/webdriver/</a:t>
            </a:r>
            <a:br>
              <a:rPr lang="pl-PL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00799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88324CED-7FCA-BD12-9204-44A988556D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5E473-CB4C-163C-934D-E50C7FF23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Importy specyficzne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7618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8FFCB-DFE7-990E-7E3F-26AFFC4D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Importy specyficzne dla </a:t>
            </a:r>
            <a:r>
              <a:rPr lang="pl-PL" dirty="0">
                <a:solidFill>
                  <a:srgbClr val="FF0000"/>
                </a:solidFill>
              </a:rPr>
              <a:t>przeglądarek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80DBD-225C-B953-CD11-D90B71263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Jeśli chcesz dodatkowo skonfigurować przeglądarkę (np. tryb headless – bez widocznego okna, lub InPrivate), musisz zaimportować moduły dedykowane: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Przykład użycia dla trybu headless: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51F31D-20A8-D533-E161-BAFCF8608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301" y="2181984"/>
            <a:ext cx="5851397" cy="908688"/>
          </a:xfrm>
          <a:prstGeom prst="rect">
            <a:avLst/>
          </a:prstGeom>
        </p:spPr>
      </p:pic>
      <p:pic>
        <p:nvPicPr>
          <p:cNvPr id="13" name="Picture 1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4F55A73-D181-2A73-F362-544C3B493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580" y="3944491"/>
            <a:ext cx="7456837" cy="205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975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F2A2-8423-6200-ED53-EDECCF29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Importy specyficzne dla </a:t>
            </a:r>
            <a:r>
              <a:rPr lang="pl-PL" dirty="0">
                <a:solidFill>
                  <a:srgbClr val="FF0000"/>
                </a:solidFill>
              </a:rPr>
              <a:t>przeglądarek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C8352-5E2C-0925-6877-0ED34ECB3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934844"/>
            <a:ext cx="11566500" cy="4538100"/>
          </a:xfrm>
        </p:spPr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Najpopularniejsze argumenty:</a:t>
            </a:r>
          </a:p>
          <a:p>
            <a:pPr marL="101600" indent="0">
              <a:buNone/>
            </a:pPr>
            <a:endParaRPr lang="pl-PL" dirty="0"/>
          </a:p>
          <a:p>
            <a:pPr marL="558800" lvl="1" indent="0">
              <a:buNone/>
            </a:pPr>
            <a:r>
              <a:rPr lang="pl-PL" dirty="0"/>
              <a:t>--start-maximized</a:t>
            </a:r>
          </a:p>
          <a:p>
            <a:pPr marL="558800" lvl="1" indent="0">
              <a:buNone/>
            </a:pPr>
            <a:r>
              <a:rPr lang="pl-PL" dirty="0"/>
              <a:t>--incognito (Chrome) / --inprivate (Edge)</a:t>
            </a:r>
          </a:p>
          <a:p>
            <a:pPr marL="558800" lvl="1" indent="0">
              <a:buNone/>
            </a:pPr>
            <a:r>
              <a:rPr lang="pl-PL" dirty="0"/>
              <a:t>--window-size=1920,1080</a:t>
            </a:r>
          </a:p>
          <a:p>
            <a:pPr marL="558800" lvl="1" indent="0">
              <a:buNone/>
            </a:pPr>
            <a:r>
              <a:rPr lang="pl-PL" dirty="0"/>
              <a:t>--disable-notification</a:t>
            </a:r>
          </a:p>
          <a:p>
            <a:pPr marL="558800" lvl="1" indent="0">
              <a:buNone/>
            </a:pPr>
            <a:r>
              <a:rPr lang="pl-PL" dirty="0"/>
              <a:t>--lang=pl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04168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3F0D267-8FD8-98D4-14B4-A24488EE5A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340047-BF31-A237-92C6-DB76767C41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Page Object Model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11817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D425-DBBC-6D55-3C21-9622BD7B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Page</a:t>
            </a:r>
            <a:r>
              <a:rPr lang="pl-PL" dirty="0">
                <a:solidFill>
                  <a:srgbClr val="FF0000"/>
                </a:solidFill>
              </a:rPr>
              <a:t> Object </a:t>
            </a:r>
            <a:r>
              <a:rPr lang="pl-PL" dirty="0"/>
              <a:t>Model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C9C8C-3B11-29BE-01AE-A684706F9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239900"/>
            <a:ext cx="11566500" cy="4904868"/>
          </a:xfrm>
        </p:spPr>
        <p:txBody>
          <a:bodyPr>
            <a:normAutofit/>
          </a:bodyPr>
          <a:lstStyle/>
          <a:p>
            <a:pPr marL="101600" indent="0">
              <a:buNone/>
            </a:pPr>
            <a:r>
              <a:rPr lang="pl-PL" sz="1600" b="1" dirty="0">
                <a:solidFill>
                  <a:srgbClr val="FF0000"/>
                </a:solidFill>
              </a:rPr>
              <a:t>Page Object Model (POM) </a:t>
            </a:r>
            <a:r>
              <a:rPr lang="pl-PL" sz="1600" dirty="0"/>
              <a:t>to najpopularniejszy wzorzec projektowy w automatyzacji testów.</a:t>
            </a:r>
          </a:p>
          <a:p>
            <a:pPr marL="101600" indent="0">
              <a:buNone/>
            </a:pPr>
            <a:endParaRPr lang="pl-PL" sz="1600" dirty="0"/>
          </a:p>
          <a:p>
            <a:pPr marL="101600" indent="0">
              <a:buNone/>
            </a:pPr>
            <a:r>
              <a:rPr lang="pl-PL" sz="1600" dirty="0"/>
              <a:t>Wyobraź sobie, że masz 50 testów, które logują się do aplikacji. W każdym z nich masz linię: </a:t>
            </a:r>
          </a:p>
          <a:p>
            <a:pPr marL="101600" indent="0">
              <a:buNone/>
            </a:pPr>
            <a:r>
              <a:rPr lang="pl-PL" sz="1600" dirty="0"/>
              <a:t>await driver.findElement(By.id('login-button')).click();</a:t>
            </a:r>
          </a:p>
          <a:p>
            <a:pPr marL="101600" indent="0">
              <a:buNone/>
            </a:pPr>
            <a:endParaRPr lang="pl-PL" sz="1600" dirty="0"/>
          </a:p>
          <a:p>
            <a:pPr marL="101600" indent="0">
              <a:buNone/>
            </a:pPr>
            <a:r>
              <a:rPr lang="pl-PL" sz="1600" dirty="0"/>
              <a:t>Jeśli programiści zmienią id przycisku na submit-button, musisz otworzyć 50 plików i ręcznie to poprawić. </a:t>
            </a:r>
          </a:p>
          <a:p>
            <a:pPr marL="101600" indent="0">
              <a:buNone/>
            </a:pPr>
            <a:endParaRPr lang="pl-PL" sz="1600" dirty="0"/>
          </a:p>
          <a:p>
            <a:pPr marL="101600" indent="0">
              <a:buNone/>
            </a:pPr>
            <a:r>
              <a:rPr lang="pl-PL" sz="1600" dirty="0"/>
              <a:t>W POM każda strona aplikacji (np. Strona Logowania, Strona Koszyka) jest reprezentowana przez osobną </a:t>
            </a:r>
            <a:r>
              <a:rPr lang="pl-PL" sz="1600" b="1" dirty="0">
                <a:solidFill>
                  <a:srgbClr val="FF0000"/>
                </a:solidFill>
              </a:rPr>
              <a:t>klasę w JavaScript</a:t>
            </a:r>
            <a:r>
              <a:rPr lang="pl-PL" sz="1600" dirty="0">
                <a:solidFill>
                  <a:srgbClr val="FF0000"/>
                </a:solidFill>
              </a:rPr>
              <a:t>.</a:t>
            </a:r>
          </a:p>
          <a:p>
            <a:pPr marL="101600" indent="0">
              <a:buNone/>
            </a:pPr>
            <a:endParaRPr lang="pl-PL" sz="1600" dirty="0"/>
          </a:p>
          <a:p>
            <a:pPr marL="101600" indent="0">
              <a:buNone/>
            </a:pPr>
            <a:r>
              <a:rPr lang="pl-PL" sz="1600" b="1" dirty="0">
                <a:solidFill>
                  <a:srgbClr val="FF0000"/>
                </a:solidFill>
              </a:rPr>
              <a:t>Pola klasy</a:t>
            </a:r>
            <a:r>
              <a:rPr lang="pl-PL" sz="1600" dirty="0">
                <a:solidFill>
                  <a:srgbClr val="FF0000"/>
                </a:solidFill>
              </a:rPr>
              <a:t> </a:t>
            </a:r>
            <a:r>
              <a:rPr lang="pl-PL" sz="1600" dirty="0"/>
              <a:t>przechowują lokalizatory (np. </a:t>
            </a:r>
            <a:r>
              <a:rPr lang="pl-PL" sz="1600" dirty="0">
                <a:solidFill>
                  <a:srgbClr val="FF0000"/>
                </a:solidFill>
              </a:rPr>
              <a:t>this.loginButton = By.id('login-button')</a:t>
            </a:r>
            <a:r>
              <a:rPr lang="pl-PL" sz="1600" dirty="0"/>
              <a:t>).</a:t>
            </a:r>
          </a:p>
          <a:p>
            <a:pPr marL="101600" indent="0">
              <a:buNone/>
            </a:pPr>
            <a:endParaRPr lang="pl-PL" sz="1600" b="1" dirty="0"/>
          </a:p>
          <a:p>
            <a:pPr marL="101600" indent="0">
              <a:buNone/>
            </a:pPr>
            <a:r>
              <a:rPr lang="pl-PL" sz="1600" b="1" dirty="0">
                <a:solidFill>
                  <a:srgbClr val="FF0000"/>
                </a:solidFill>
              </a:rPr>
              <a:t>Metody klasy</a:t>
            </a:r>
            <a:r>
              <a:rPr lang="pl-PL" sz="1600" dirty="0">
                <a:solidFill>
                  <a:srgbClr val="FF0000"/>
                </a:solidFill>
              </a:rPr>
              <a:t> </a:t>
            </a:r>
            <a:r>
              <a:rPr lang="pl-PL" sz="1600" dirty="0"/>
              <a:t>reprezentują akcje, które użytkownik może wykonać na tej stronie (np. </a:t>
            </a:r>
            <a:r>
              <a:rPr lang="pl-PL" sz="1600" dirty="0">
                <a:solidFill>
                  <a:srgbClr val="FF0000"/>
                </a:solidFill>
              </a:rPr>
              <a:t>loginUser(), resetPassword()).</a:t>
            </a:r>
          </a:p>
          <a:p>
            <a:pPr marL="10160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7473418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A210-D950-2B1D-0881-56202AE1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Implementacja </a:t>
            </a:r>
            <a:r>
              <a:rPr lang="pl-PL" dirty="0">
                <a:solidFill>
                  <a:srgbClr val="FF0000"/>
                </a:solidFill>
              </a:rPr>
              <a:t>POM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DBF46-8E69-0E43-EDC6-09B737CB4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239900"/>
            <a:ext cx="3277688" cy="4538100"/>
          </a:xfrm>
        </p:spPr>
        <p:txBody>
          <a:bodyPr>
            <a:normAutofit/>
          </a:bodyPr>
          <a:lstStyle/>
          <a:p>
            <a:pPr marL="101600" indent="0">
              <a:buNone/>
            </a:pPr>
            <a:endParaRPr lang="pl-PL" sz="1800" dirty="0"/>
          </a:p>
          <a:p>
            <a:pPr marL="101600" indent="0">
              <a:buNone/>
            </a:pPr>
            <a:endParaRPr lang="pl-PL" sz="1800" dirty="0"/>
          </a:p>
          <a:p>
            <a:pPr marL="101600" indent="0">
              <a:buNone/>
            </a:pPr>
            <a:endParaRPr lang="pl-PL" sz="1800" dirty="0"/>
          </a:p>
          <a:p>
            <a:pPr marL="101600" indent="0">
              <a:buNone/>
            </a:pPr>
            <a:endParaRPr lang="pl-PL" sz="1800" dirty="0"/>
          </a:p>
          <a:p>
            <a:pPr marL="101600" indent="0">
              <a:buNone/>
            </a:pPr>
            <a:endParaRPr lang="pl-PL" sz="1800" dirty="0"/>
          </a:p>
          <a:p>
            <a:pPr marL="101600" indent="0">
              <a:buNone/>
            </a:pPr>
            <a:r>
              <a:rPr lang="pl-PL" sz="1800" dirty="0"/>
              <a:t>Klasa naszej przykładowej strony może wyglądać tak:</a:t>
            </a:r>
            <a:endParaRPr lang="en-GB" sz="1800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377287A-171E-5A7D-5D2C-26ED77A60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110" y="1239900"/>
            <a:ext cx="5882746" cy="498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560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36D4-5B47-AAC5-CC8B-05C641894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Implementacja </a:t>
            </a:r>
            <a:r>
              <a:rPr lang="pl-PL" dirty="0">
                <a:solidFill>
                  <a:srgbClr val="FF0000"/>
                </a:solidFill>
              </a:rPr>
              <a:t>POM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EF592-DA4E-FF5D-191F-649A9E89A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2913252"/>
            <a:ext cx="4451274" cy="4538100"/>
          </a:xfrm>
        </p:spPr>
        <p:txBody>
          <a:bodyPr/>
          <a:lstStyle/>
          <a:p>
            <a:pPr marL="101600" indent="0">
              <a:buNone/>
            </a:pPr>
            <a:r>
              <a:rPr lang="pl-PL" dirty="0"/>
              <a:t>Wtedy sam test wygląda jak zbiór instrukcji:</a:t>
            </a:r>
            <a:endParaRPr lang="en-GB" dirty="0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B61E450-FBB2-0904-1E9C-959BF066B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866" y="1343580"/>
            <a:ext cx="5676742" cy="468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97911"/>
      </p:ext>
    </p:extLst>
  </p:cSld>
  <p:clrMapOvr>
    <a:masterClrMapping/>
  </p:clrMapOvr>
</p:sld>
</file>

<file path=ppt/theme/theme1.xml><?xml version="1.0" encoding="utf-8"?>
<a:theme xmlns:a="http://schemas.openxmlformats.org/drawingml/2006/main" name="iSA - google slides">
  <a:themeElements>
    <a:clrScheme name="infoShare Academy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20B32"/>
      </a:accent1>
      <a:accent2>
        <a:srgbClr val="5500FC"/>
      </a:accent2>
      <a:accent3>
        <a:srgbClr val="01F9FB"/>
      </a:accent3>
      <a:accent4>
        <a:srgbClr val="F20B32"/>
      </a:accent4>
      <a:accent5>
        <a:srgbClr val="5500FC"/>
      </a:accent5>
      <a:accent6>
        <a:srgbClr val="01F9FB"/>
      </a:accent6>
      <a:hlink>
        <a:srgbClr val="F20B32"/>
      </a:hlink>
      <a:folHlink>
        <a:srgbClr val="5500F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11273</TotalTime>
  <Words>2482</Words>
  <Application>Microsoft Office PowerPoint</Application>
  <PresentationFormat>Widescreen</PresentationFormat>
  <Paragraphs>304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Google Sans Text</vt:lpstr>
      <vt:lpstr>Poppins Medium</vt:lpstr>
      <vt:lpstr>Poppins Black</vt:lpstr>
      <vt:lpstr>Calibri</vt:lpstr>
      <vt:lpstr>Poppins Light</vt:lpstr>
      <vt:lpstr>Poppins</vt:lpstr>
      <vt:lpstr>Arial</vt:lpstr>
      <vt:lpstr>iSA - google slides</vt:lpstr>
      <vt:lpstr>Selenium</vt:lpstr>
      <vt:lpstr>Agenda dzisiejszego dnia</vt:lpstr>
      <vt:lpstr>Czym jest Selenium?</vt:lpstr>
      <vt:lpstr>Czym jest Selenium?</vt:lpstr>
      <vt:lpstr>W jakich językach można pisać testy w Selenium?</vt:lpstr>
      <vt:lpstr>Dlaczego JavaScript/TypeScript to dobry wybór?</vt:lpstr>
      <vt:lpstr>Wróćmy na chwilę do Cypress...</vt:lpstr>
      <vt:lpstr>Architektura Selenium – jak to działa?</vt:lpstr>
      <vt:lpstr>Architektura Selenium – jak to działa?</vt:lpstr>
      <vt:lpstr>Architektura Selenium – jak to działa?</vt:lpstr>
      <vt:lpstr>Porównanie Cypress i Selenium</vt:lpstr>
      <vt:lpstr>Co jest potrzebne do pracy z Selenium WebDriver?</vt:lpstr>
      <vt:lpstr>Środowisko uruchomieniowe – Node.JS</vt:lpstr>
      <vt:lpstr>Menadżer pakietów – npm </vt:lpstr>
      <vt:lpstr>Biblioteka selenium-webdriver</vt:lpstr>
      <vt:lpstr>Przeglądarka i jej sterownik</vt:lpstr>
      <vt:lpstr>Czym jest asynchroniczność?</vt:lpstr>
      <vt:lpstr>Koncept asynchroniczności </vt:lpstr>
      <vt:lpstr>Koncept asynchroniczności</vt:lpstr>
      <vt:lpstr>Koncept asynchroniczności</vt:lpstr>
      <vt:lpstr>Zanim przejdziemy dalej...</vt:lpstr>
      <vt:lpstr>Prosty skrypt odwiedzający stronę</vt:lpstr>
      <vt:lpstr>Rozbijmy ten skrypt na części</vt:lpstr>
      <vt:lpstr>Podstawowy import</vt:lpstr>
      <vt:lpstr>Wzorzec Builder</vt:lpstr>
      <vt:lpstr>Testowanie funkcjonalności</vt:lpstr>
      <vt:lpstr>Interakcja ze stroną</vt:lpstr>
      <vt:lpstr>Polecenia „globalne” i „lokalne”</vt:lpstr>
      <vt:lpstr>Klasa By</vt:lpstr>
      <vt:lpstr>Metody interakcji</vt:lpstr>
      <vt:lpstr>Klasa Key</vt:lpstr>
      <vt:lpstr>Klasa Until</vt:lpstr>
      <vt:lpstr>Asercje</vt:lpstr>
      <vt:lpstr>Gdzie szukać dokumentacji</vt:lpstr>
      <vt:lpstr>Importy specyficzne</vt:lpstr>
      <vt:lpstr>Importy specyficzne dla przeglądarek</vt:lpstr>
      <vt:lpstr>Importy specyficzne dla przeglądarek</vt:lpstr>
      <vt:lpstr>Page Object Model</vt:lpstr>
      <vt:lpstr>Page Object Model</vt:lpstr>
      <vt:lpstr>Implementacja POM</vt:lpstr>
      <vt:lpstr>Implementacja POM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LAYOUT PRESENTATION</dc:title>
  <cp:lastModifiedBy>Igor Czyrski</cp:lastModifiedBy>
  <cp:revision>17</cp:revision>
  <dcterms:modified xsi:type="dcterms:W3CDTF">2026-01-13T07:49:30Z</dcterms:modified>
</cp:coreProperties>
</file>